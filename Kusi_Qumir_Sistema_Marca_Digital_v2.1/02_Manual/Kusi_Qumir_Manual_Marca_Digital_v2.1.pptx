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57053a43834d12" /><Relationship Type="http://schemas.openxmlformats.org/officeDocument/2006/relationships/extended-properties" Target="/docProps/app.xml" Id="R94ae5843981942cd" /><Relationship Type="http://schemas.openxmlformats.org/officeDocument/2006/relationships/officeDocument" Target="/ppt/presentation.xml" Id="Rcd888b0d12ad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e6845e853c4e66"/>
  </p:sldMasterIdLst>
  <p:notesMasterIdLst>
    <p:notesMasterId xmlns:r="http://schemas.openxmlformats.org/officeDocument/2006/relationships" r:id="R48ba155dca854ee7"/>
  </p:notesMasterIdLst>
  <p:sldIdLst>
    <p:sldId xmlns:r="http://schemas.openxmlformats.org/officeDocument/2006/relationships" id="256" r:id="R94a280516fe24ef6"/>
    <p:sldId xmlns:r="http://schemas.openxmlformats.org/officeDocument/2006/relationships" id="257" r:id="R9adb6598ca374fbb"/>
    <p:sldId xmlns:r="http://schemas.openxmlformats.org/officeDocument/2006/relationships" id="258" r:id="R0c6b55f8785447ca"/>
    <p:sldId xmlns:r="http://schemas.openxmlformats.org/officeDocument/2006/relationships" id="259" r:id="R7d7a5588e89c418b"/>
    <p:sldId xmlns:r="http://schemas.openxmlformats.org/officeDocument/2006/relationships" id="260" r:id="R2a764405b1184d37"/>
    <p:sldId xmlns:r="http://schemas.openxmlformats.org/officeDocument/2006/relationships" id="261" r:id="R49a5fb3b66b24f76"/>
    <p:sldId xmlns:r="http://schemas.openxmlformats.org/officeDocument/2006/relationships" id="262" r:id="R17ffb24ef0ae4359"/>
    <p:sldId xmlns:r="http://schemas.openxmlformats.org/officeDocument/2006/relationships" id="263" r:id="Rf044d69bb65e443e"/>
    <p:sldId xmlns:r="http://schemas.openxmlformats.org/officeDocument/2006/relationships" id="264" r:id="R20f0454d5b8344ad"/>
    <p:sldId xmlns:r="http://schemas.openxmlformats.org/officeDocument/2006/relationships" id="265" r:id="R05509367f4294b8d"/>
    <p:sldId xmlns:r="http://schemas.openxmlformats.org/officeDocument/2006/relationships" id="266" r:id="R82c4b70c05f14ba6"/>
    <p:sldId xmlns:r="http://schemas.openxmlformats.org/officeDocument/2006/relationships" id="267" r:id="R9609d58070f74ae4"/>
    <p:sldId xmlns:r="http://schemas.openxmlformats.org/officeDocument/2006/relationships" id="268" r:id="R5b444353874b4c58"/>
    <p:sldId xmlns:r="http://schemas.openxmlformats.org/officeDocument/2006/relationships" id="269" r:id="R2a3bbf70118049de"/>
    <p:sldId xmlns:r="http://schemas.openxmlformats.org/officeDocument/2006/relationships" id="270" r:id="R04175c1b58e24030"/>
    <p:sldId xmlns:r="http://schemas.openxmlformats.org/officeDocument/2006/relationships" id="271" r:id="Rc3550f4b4bf74b3e"/>
    <p:sldId xmlns:r="http://schemas.openxmlformats.org/officeDocument/2006/relationships" id="272" r:id="Rcd5ad0a48e6646e2"/>
    <p:sldId xmlns:r="http://schemas.openxmlformats.org/officeDocument/2006/relationships" id="273" r:id="Re325b7d0201449dc"/>
    <p:sldId xmlns:r="http://schemas.openxmlformats.org/officeDocument/2006/relationships" id="274" r:id="Rbf5a3bbea26a43ef"/>
    <p:sldId xmlns:r="http://schemas.openxmlformats.org/officeDocument/2006/relationships" id="275" r:id="R9d1870f59f234c02"/>
    <p:sldId xmlns:r="http://schemas.openxmlformats.org/officeDocument/2006/relationships" id="276" r:id="R344b2ccbeb1d4031"/>
    <p:sldId xmlns:r="http://schemas.openxmlformats.org/officeDocument/2006/relationships" id="277" r:id="Re355fea887cb46b7"/>
    <p:sldId xmlns:r="http://schemas.openxmlformats.org/officeDocument/2006/relationships" id="278" r:id="Reecd2dab70d6486b"/>
    <p:sldId xmlns:r="http://schemas.openxmlformats.org/officeDocument/2006/relationships" id="279" r:id="R30d17c8f0b354f4c"/>
    <p:sldId xmlns:r="http://schemas.openxmlformats.org/officeDocument/2006/relationships" id="280" r:id="R53ffc46a2e534413"/>
    <p:sldId xmlns:r="http://schemas.openxmlformats.org/officeDocument/2006/relationships" id="281" r:id="Rdaeb46e17d3840ac"/>
    <p:sldId xmlns:r="http://schemas.openxmlformats.org/officeDocument/2006/relationships" id="282" r:id="R7c5f12fe85f24a23"/>
    <p:sldId xmlns:r="http://schemas.openxmlformats.org/officeDocument/2006/relationships" id="283" r:id="R53e749bc371a4e56"/>
    <p:sldId xmlns:r="http://schemas.openxmlformats.org/officeDocument/2006/relationships" id="284" r:id="R47d9e0624f014330"/>
    <p:sldId xmlns:r="http://schemas.openxmlformats.org/officeDocument/2006/relationships" id="285" r:id="Rb381b4db8da74889"/>
    <p:sldId xmlns:r="http://schemas.openxmlformats.org/officeDocument/2006/relationships" id="286" r:id="R84b7a03ddf994901"/>
    <p:sldId xmlns:r="http://schemas.openxmlformats.org/officeDocument/2006/relationships" id="287" r:id="R6353a33132934a0a"/>
    <p:sldId xmlns:r="http://schemas.openxmlformats.org/officeDocument/2006/relationships" id="288" r:id="R0cf0a71bbab94753"/>
    <p:sldId xmlns:r="http://schemas.openxmlformats.org/officeDocument/2006/relationships" id="289" r:id="R5020c7fb9cf34717"/>
    <p:sldId xmlns:r="http://schemas.openxmlformats.org/officeDocument/2006/relationships" id="290" r:id="R73a4153d8a6841d6"/>
    <p:sldId xmlns:r="http://schemas.openxmlformats.org/officeDocument/2006/relationships" id="291" r:id="R24abacd7ad0c49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0c7e0d146a4e3f" /><Relationship Type="http://schemas.openxmlformats.org/officeDocument/2006/relationships/slideMaster" Target="/ppt/slideMasters/slideMaster1.xml" Id="Rf0e6845e853c4e66" /><Relationship Type="http://schemas.openxmlformats.org/officeDocument/2006/relationships/notesMaster" Target="/ppt/notesMasters/notesMaster1.xml" Id="R48ba155dca854ee7" /><Relationship Type="http://schemas.openxmlformats.org/officeDocument/2006/relationships/presProps" Target="/ppt/presProps.xml" Id="R54bed65fe2334d87" /><Relationship Type="http://schemas.openxmlformats.org/officeDocument/2006/relationships/tableStyles" Target="/ppt/tableStyles.xml" Id="R5d2196c077f0438e" /><Relationship Type="http://schemas.openxmlformats.org/officeDocument/2006/relationships/slide" Target="/ppt/slides/slide1.xml" Id="R94a280516fe24ef6" /><Relationship Type="http://schemas.openxmlformats.org/officeDocument/2006/relationships/slide" Target="/ppt/slides/slide2.xml" Id="R9adb6598ca374fbb" /><Relationship Type="http://schemas.openxmlformats.org/officeDocument/2006/relationships/slide" Target="/ppt/slides/slide3.xml" Id="R0c6b55f8785447ca" /><Relationship Type="http://schemas.openxmlformats.org/officeDocument/2006/relationships/slide" Target="/ppt/slides/slide4.xml" Id="R7d7a5588e89c418b" /><Relationship Type="http://schemas.openxmlformats.org/officeDocument/2006/relationships/slide" Target="/ppt/slides/slide5.xml" Id="R2a764405b1184d37" /><Relationship Type="http://schemas.openxmlformats.org/officeDocument/2006/relationships/slide" Target="/ppt/slides/slide6.xml" Id="R49a5fb3b66b24f76" /><Relationship Type="http://schemas.openxmlformats.org/officeDocument/2006/relationships/slide" Target="/ppt/slides/slide7.xml" Id="R17ffb24ef0ae4359" /><Relationship Type="http://schemas.openxmlformats.org/officeDocument/2006/relationships/slide" Target="/ppt/slides/slide8.xml" Id="Rf044d69bb65e443e" /><Relationship Type="http://schemas.openxmlformats.org/officeDocument/2006/relationships/slide" Target="/ppt/slides/slide9.xml" Id="R20f0454d5b8344ad" /><Relationship Type="http://schemas.openxmlformats.org/officeDocument/2006/relationships/slide" Target="/ppt/slides/slide10.xml" Id="R05509367f4294b8d" /><Relationship Type="http://schemas.openxmlformats.org/officeDocument/2006/relationships/slide" Target="/ppt/slides/slide11.xml" Id="R82c4b70c05f14ba6" /><Relationship Type="http://schemas.openxmlformats.org/officeDocument/2006/relationships/slide" Target="/ppt/slides/slide12.xml" Id="R9609d58070f74ae4" /><Relationship Type="http://schemas.openxmlformats.org/officeDocument/2006/relationships/slide" Target="/ppt/slides/slide13.xml" Id="R5b444353874b4c58" /><Relationship Type="http://schemas.openxmlformats.org/officeDocument/2006/relationships/slide" Target="/ppt/slides/slide14.xml" Id="R2a3bbf70118049de" /><Relationship Type="http://schemas.openxmlformats.org/officeDocument/2006/relationships/slide" Target="/ppt/slides/slide15.xml" Id="R04175c1b58e24030" /><Relationship Type="http://schemas.openxmlformats.org/officeDocument/2006/relationships/slide" Target="/ppt/slides/slide16.xml" Id="Rc3550f4b4bf74b3e" /><Relationship Type="http://schemas.openxmlformats.org/officeDocument/2006/relationships/slide" Target="/ppt/slides/slide17.xml" Id="Rcd5ad0a48e6646e2" /><Relationship Type="http://schemas.openxmlformats.org/officeDocument/2006/relationships/slide" Target="/ppt/slides/slide18.xml" Id="Re325b7d0201449dc" /><Relationship Type="http://schemas.openxmlformats.org/officeDocument/2006/relationships/slide" Target="/ppt/slides/slide19.xml" Id="Rbf5a3bbea26a43ef" /><Relationship Type="http://schemas.openxmlformats.org/officeDocument/2006/relationships/slide" Target="/ppt/slides/slide20.xml" Id="R9d1870f59f234c02" /><Relationship Type="http://schemas.openxmlformats.org/officeDocument/2006/relationships/slide" Target="/ppt/slides/slide21.xml" Id="R344b2ccbeb1d4031" /><Relationship Type="http://schemas.openxmlformats.org/officeDocument/2006/relationships/slide" Target="/ppt/slides/slide22.xml" Id="Re355fea887cb46b7" /><Relationship Type="http://schemas.openxmlformats.org/officeDocument/2006/relationships/slide" Target="/ppt/slides/slide23.xml" Id="Reecd2dab70d6486b" /><Relationship Type="http://schemas.openxmlformats.org/officeDocument/2006/relationships/slide" Target="/ppt/slides/slide24.xml" Id="R30d17c8f0b354f4c" /><Relationship Type="http://schemas.openxmlformats.org/officeDocument/2006/relationships/slide" Target="/ppt/slides/slide25.xml" Id="R53ffc46a2e534413" /><Relationship Type="http://schemas.openxmlformats.org/officeDocument/2006/relationships/slide" Target="/ppt/slides/slide26.xml" Id="Rdaeb46e17d3840ac" /><Relationship Type="http://schemas.openxmlformats.org/officeDocument/2006/relationships/slide" Target="/ppt/slides/slide27.xml" Id="R7c5f12fe85f24a23" /><Relationship Type="http://schemas.openxmlformats.org/officeDocument/2006/relationships/slide" Target="/ppt/slides/slide28.xml" Id="R53e749bc371a4e56" /><Relationship Type="http://schemas.openxmlformats.org/officeDocument/2006/relationships/slide" Target="/ppt/slides/slide29.xml" Id="R47d9e0624f014330" /><Relationship Type="http://schemas.openxmlformats.org/officeDocument/2006/relationships/slide" Target="/ppt/slides/slide30.xml" Id="Rb381b4db8da74889" /><Relationship Type="http://schemas.openxmlformats.org/officeDocument/2006/relationships/slide" Target="/ppt/slides/slide31.xml" Id="R84b7a03ddf994901" /><Relationship Type="http://schemas.openxmlformats.org/officeDocument/2006/relationships/slide" Target="/ppt/slides/slide32.xml" Id="R6353a33132934a0a" /><Relationship Type="http://schemas.openxmlformats.org/officeDocument/2006/relationships/slide" Target="/ppt/slides/slide33.xml" Id="R0cf0a71bbab94753" /><Relationship Type="http://schemas.openxmlformats.org/officeDocument/2006/relationships/slide" Target="/ppt/slides/slide34.xml" Id="R5020c7fb9cf34717" /><Relationship Type="http://schemas.openxmlformats.org/officeDocument/2006/relationships/slide" Target="/ppt/slides/slide35.xml" Id="R73a4153d8a6841d6" /><Relationship Type="http://schemas.openxmlformats.org/officeDocument/2006/relationships/slide" Target="/ppt/slides/slide36.xml" Id="R24abacd7ad0c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1fa77060e4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f513b88574b70" /><Relationship Type="http://schemas.openxmlformats.org/officeDocument/2006/relationships/notesMaster" Target="/ppt/notesMasters/notesMaster1.xml" Id="R89f8880e9727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1396639d11486b" /><Relationship Type="http://schemas.openxmlformats.org/officeDocument/2006/relationships/notesMaster" Target="/ppt/notesMasters/notesMaster1.xml" Id="R7db4fc2ca49a43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51c2da83e9432b" /><Relationship Type="http://schemas.openxmlformats.org/officeDocument/2006/relationships/notesMaster" Target="/ppt/notesMasters/notesMaster1.xml" Id="R94742f0c821d4a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182f2b98274abb" /><Relationship Type="http://schemas.openxmlformats.org/officeDocument/2006/relationships/notesMaster" Target="/ppt/notesMasters/notesMaster1.xml" Id="R0c4ffdc73b954f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7e00eb14d94c82" /><Relationship Type="http://schemas.openxmlformats.org/officeDocument/2006/relationships/notesMaster" Target="/ppt/notesMasters/notesMaster1.xml" Id="R5158e96dd71f44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73e5a43f084d15" /><Relationship Type="http://schemas.openxmlformats.org/officeDocument/2006/relationships/notesMaster" Target="/ppt/notesMasters/notesMaster1.xml" Id="R7a195499c9964d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d94ce0d1f04a41" /><Relationship Type="http://schemas.openxmlformats.org/officeDocument/2006/relationships/notesMaster" Target="/ppt/notesMasters/notesMaster1.xml" Id="Rb5aee84f44d04f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5f2c9049ce4d3b" /><Relationship Type="http://schemas.openxmlformats.org/officeDocument/2006/relationships/notesMaster" Target="/ppt/notesMasters/notesMaster1.xml" Id="R57181bfeecdb4f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59ad8058dc47f2" /><Relationship Type="http://schemas.openxmlformats.org/officeDocument/2006/relationships/notesMaster" Target="/ppt/notesMasters/notesMaster1.xml" Id="Rfbf79f5df3e541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9ed6995b32474f" /><Relationship Type="http://schemas.openxmlformats.org/officeDocument/2006/relationships/notesMaster" Target="/ppt/notesMasters/notesMaster1.xml" Id="R9153cf86b73c49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916beb3d3d4261" /><Relationship Type="http://schemas.openxmlformats.org/officeDocument/2006/relationships/notesMaster" Target="/ppt/notesMasters/notesMaster1.xml" Id="R2d0809d170d343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f1f3e62f5e4923" /><Relationship Type="http://schemas.openxmlformats.org/officeDocument/2006/relationships/notesMaster" Target="/ppt/notesMasters/notesMaster1.xml" Id="Rb255961f8ea54f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87b6172094482e" /><Relationship Type="http://schemas.openxmlformats.org/officeDocument/2006/relationships/notesMaster" Target="/ppt/notesMasters/notesMaster1.xml" Id="Rd8290e24694747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63cb65de3347d3" /><Relationship Type="http://schemas.openxmlformats.org/officeDocument/2006/relationships/notesMaster" Target="/ppt/notesMasters/notesMaster1.xml" Id="Raaf1e15aee2546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01fe83d5324c7d" /><Relationship Type="http://schemas.openxmlformats.org/officeDocument/2006/relationships/notesMaster" Target="/ppt/notesMasters/notesMaster1.xml" Id="R0afa56e5bc6e44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a7cb51e7ff4839" /><Relationship Type="http://schemas.openxmlformats.org/officeDocument/2006/relationships/notesMaster" Target="/ppt/notesMasters/notesMaster1.xml" Id="R586d867207af4a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da9b5679c8440a" /><Relationship Type="http://schemas.openxmlformats.org/officeDocument/2006/relationships/notesMaster" Target="/ppt/notesMasters/notesMaster1.xml" Id="R6035e5d0819244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577e7b2c3146ff" /><Relationship Type="http://schemas.openxmlformats.org/officeDocument/2006/relationships/notesMaster" Target="/ppt/notesMasters/notesMaster1.xml" Id="Rdd54167cf9b24d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965c0a661d4cb7" /><Relationship Type="http://schemas.openxmlformats.org/officeDocument/2006/relationships/notesMaster" Target="/ppt/notesMasters/notesMaster1.xml" Id="R42654cdbd2cd41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8a2686043646ab" /><Relationship Type="http://schemas.openxmlformats.org/officeDocument/2006/relationships/notesMaster" Target="/ppt/notesMasters/notesMaster1.xml" Id="R2e2646e18cd047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4dd5fdfb764f06" /><Relationship Type="http://schemas.openxmlformats.org/officeDocument/2006/relationships/notesMaster" Target="/ppt/notesMasters/notesMaster1.xml" Id="R31c6847754ae4b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88d01839bc4c52" /><Relationship Type="http://schemas.openxmlformats.org/officeDocument/2006/relationships/notesMaster" Target="/ppt/notesMasters/notesMaster1.xml" Id="R99814796fc4942e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4176851cc3466c" /><Relationship Type="http://schemas.openxmlformats.org/officeDocument/2006/relationships/notesMaster" Target="/ppt/notesMasters/notesMaster1.xml" Id="R3db8733d869640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1e12c0899b4ad8" /><Relationship Type="http://schemas.openxmlformats.org/officeDocument/2006/relationships/notesMaster" Target="/ppt/notesMasters/notesMaster1.xml" Id="R5c11d67c6e5b4dd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97b4a5bd3440f0" /><Relationship Type="http://schemas.openxmlformats.org/officeDocument/2006/relationships/notesMaster" Target="/ppt/notesMasters/notesMaster1.xml" Id="R658ec8bb92a645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eba2dc2fd146a7" /><Relationship Type="http://schemas.openxmlformats.org/officeDocument/2006/relationships/notesMaster" Target="/ppt/notesMasters/notesMaster1.xml" Id="R3e91a6313bf047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8b029455d4495b" /><Relationship Type="http://schemas.openxmlformats.org/officeDocument/2006/relationships/notesMaster" Target="/ppt/notesMasters/notesMaster1.xml" Id="Ra52333b6b1464a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1f1c723e2844b56" /><Relationship Type="http://schemas.openxmlformats.org/officeDocument/2006/relationships/notesMaster" Target="/ppt/notesMasters/notesMaster1.xml" Id="Rcaf1566d706643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58a6801bd6a40e3" /><Relationship Type="http://schemas.openxmlformats.org/officeDocument/2006/relationships/notesMaster" Target="/ppt/notesMasters/notesMaster1.xml" Id="R83ee879fc22848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f79b73cc1e64fd6" /><Relationship Type="http://schemas.openxmlformats.org/officeDocument/2006/relationships/notesMaster" Target="/ppt/notesMasters/notesMaster1.xml" Id="R6ba066875023441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6d3b87ed4ea40b5" /><Relationship Type="http://schemas.openxmlformats.org/officeDocument/2006/relationships/notesMaster" Target="/ppt/notesMasters/notesMaster1.xml" Id="R5c8cdd9634114ca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8ec0df6b414629" /><Relationship Type="http://schemas.openxmlformats.org/officeDocument/2006/relationships/notesMaster" Target="/ppt/notesMasters/notesMaster1.xml" Id="R3556bb84271e47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ecaa22c879142fc" /><Relationship Type="http://schemas.openxmlformats.org/officeDocument/2006/relationships/notesMaster" Target="/ppt/notesMasters/notesMaster1.xml" Id="Re0d4d4944eb8460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0b75400490b4424" /><Relationship Type="http://schemas.openxmlformats.org/officeDocument/2006/relationships/notesMaster" Target="/ppt/notesMasters/notesMaster1.xml" Id="R60d57c6fd5224f4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dcd9ca65bd24ff5" /><Relationship Type="http://schemas.openxmlformats.org/officeDocument/2006/relationships/notesMaster" Target="/ppt/notesMasters/notesMaster1.xml" Id="R6d9d4c4d07d34b8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806cc43d7fe4231" /><Relationship Type="http://schemas.openxmlformats.org/officeDocument/2006/relationships/notesMaster" Target="/ppt/notesMasters/notesMaster1.xml" Id="R8e651de2559e4f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- W3C WCAG 2.2 Use of Color and Non-text Contrast: https://www.w3.org/WAI/WCAG22/Understanding/non-text-contrast.html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- W3C WCAG 2.2 Contrast (Minimum): https://www.w3.org/WAI/WCAG22/Understanding/contrast-minimum</a:t>
            </a:r>
          </a:p>
          <a:p xmlns:a="http://schemas.openxmlformats.org/drawingml/2006/main">
            <a:r>
              <a:t>- W3C WCAG 2.2 Non-text Contrast: https://www.w3.org/WAI/WCAG22/Understanding/non-text-contrast.html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- W3C WCAG 2.2 Target Size (Minimum): https://www.w3.org/WAI/WCAG22/Understanding/target-size-minimum</a:t>
            </a:r>
          </a:p>
          <a:p xmlns:a="http://schemas.openxmlformats.org/drawingml/2006/main">
            <a:r>
              <a:t>- W3C WCAG 2.2 Target Size (Enhanced): https://www.w3.org/WAI/WCAG22/Understanding/target-size-enhanced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- W3C WCAG 2.2 Target Size (Minimum): https://www.w3.org/WAI/WCAG22/Understanding/target-size-minimum</a:t>
            </a:r>
          </a:p>
          <a:p xmlns:a="http://schemas.openxmlformats.org/drawingml/2006/main">
            <a:r>
              <a:t>- W3C WCAG 2.2 Target Size (Enhanced): https://www.w3.org/WAI/WCAG22/Understanding/target-size-enhanced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- W3C WCAG 2.2 Animation from Interactions: https://www.w3.org/WAI/WCAG22/Understanding/animation-from-interactions.html</a:t>
            </a:r>
          </a:p>
          <a:p xmlns:a="http://schemas.openxmlformats.org/drawingml/2006/main">
            <a:r>
              <a:t>- W3C technique C39 prefers-reduced-motion: https://www.w3.org/WAI/WCAG22/Techniques/css/C39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- W3C WCAG 2.2 sources listed on slide.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Kusi Q’umir Logo Kit v1.3 and approved brand strategy.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4b433fabd46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0f0a4278a84d86" /><Relationship Type="http://schemas.openxmlformats.org/officeDocument/2006/relationships/slideLayout" Target="/ppt/slideLayouts/slideLayout1.xml" Id="R6a05d4c688c548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05d4c688c548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5dab423b3497d" /><Relationship Type="http://schemas.openxmlformats.org/officeDocument/2006/relationships/image" Target="/ppt/media/image.png" Id="Rc43adffcdd984a86" /><Relationship Type="http://schemas.openxmlformats.org/officeDocument/2006/relationships/notesSlide" Target="/ppt/notesSlides/notesSlide1.xml" Id="R24213b79f8ce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0446a29794daf" /><Relationship Type="http://schemas.openxmlformats.org/officeDocument/2006/relationships/notesSlide" Target="/ppt/notesSlides/notesSlide2.xml" Id="R615d49e2022249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d12ab8815403a" /><Relationship Type="http://schemas.openxmlformats.org/officeDocument/2006/relationships/notesSlide" Target="/ppt/notesSlides/notesSlide3.xml" Id="R36e45e6c58174f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aed1038f740ff" /><Relationship Type="http://schemas.openxmlformats.org/officeDocument/2006/relationships/notesSlide" Target="/ppt/notesSlides/notesSlide4.xml" Id="R18ba7df90f2642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09a49a46e45f8" /><Relationship Type="http://schemas.openxmlformats.org/officeDocument/2006/relationships/notesSlide" Target="/ppt/notesSlides/notesSlide5.xml" Id="R93b72099f97347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2cf5f4f4c4c9e" /><Relationship Type="http://schemas.openxmlformats.org/officeDocument/2006/relationships/notesSlide" Target="/ppt/notesSlides/notesSlide6.xml" Id="R52ac19ceac6445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d9feea7544161" /><Relationship Type="http://schemas.openxmlformats.org/officeDocument/2006/relationships/notesSlide" Target="/ppt/notesSlides/notesSlide7.xml" Id="R36438c5059d143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2d066d3c403d" /><Relationship Type="http://schemas.openxmlformats.org/officeDocument/2006/relationships/notesSlide" Target="/ppt/notesSlides/notesSlide8.xml" Id="R30c2b80d019a44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175f7a0c643b3" /><Relationship Type="http://schemas.openxmlformats.org/officeDocument/2006/relationships/notesSlide" Target="/ppt/notesSlides/notesSlide9.xml" Id="R982641094bcb48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d965e8fb1459b" /><Relationship Type="http://schemas.openxmlformats.org/officeDocument/2006/relationships/image" Target="/ppt/media/image2.png" Id="Rf7584c2d18d64d9e" /><Relationship Type="http://schemas.openxmlformats.org/officeDocument/2006/relationships/notesSlide" Target="/ppt/notesSlides/notesSlide10.xml" Id="R8c4267bbbe394e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605cdca814bac" /><Relationship Type="http://schemas.openxmlformats.org/officeDocument/2006/relationships/image" Target="/ppt/media/image3.png" Id="Rfda70aa4e9884e8f" /><Relationship Type="http://schemas.openxmlformats.org/officeDocument/2006/relationships/notesSlide" Target="/ppt/notesSlides/notesSlide11.xml" Id="Rdf949022edea4c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a96f14bd741e4" /><Relationship Type="http://schemas.openxmlformats.org/officeDocument/2006/relationships/image" Target="/ppt/media/image4.png" Id="R0a93158cbdbe4b27" /><Relationship Type="http://schemas.openxmlformats.org/officeDocument/2006/relationships/image" Target="/ppt/media/image5.png" Id="R4aa29a5628444228" /><Relationship Type="http://schemas.openxmlformats.org/officeDocument/2006/relationships/image" Target="/ppt/media/image6.png" Id="Rfcd0d0c1922e432d" /><Relationship Type="http://schemas.openxmlformats.org/officeDocument/2006/relationships/image" Target="/ppt/media/image7.png" Id="R3f6a68c4d063467f" /><Relationship Type="http://schemas.openxmlformats.org/officeDocument/2006/relationships/notesSlide" Target="/ppt/notesSlides/notesSlide12.xml" Id="R59fe07476d6e44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1d6b4f87b48bf" /><Relationship Type="http://schemas.openxmlformats.org/officeDocument/2006/relationships/image" Target="/ppt/media/image8.png" Id="Rc6ab6671fe7c4c55" /><Relationship Type="http://schemas.openxmlformats.org/officeDocument/2006/relationships/notesSlide" Target="/ppt/notesSlides/notesSlide13.xml" Id="R69a4cf01a00a43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1d600f14d4513" /><Relationship Type="http://schemas.openxmlformats.org/officeDocument/2006/relationships/notesSlide" Target="/ppt/notesSlides/notesSlide14.xml" Id="R071f50918a024e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79bcc086d4c66" /><Relationship Type="http://schemas.openxmlformats.org/officeDocument/2006/relationships/image" Target="/ppt/media/image9.png" Id="Rbbed403ecf404f59" /><Relationship Type="http://schemas.openxmlformats.org/officeDocument/2006/relationships/image" Target="/ppt/media/image10.png" Id="Rd2d4a1f3f1c34775" /><Relationship Type="http://schemas.openxmlformats.org/officeDocument/2006/relationships/image" Target="/ppt/media/image11.png" Id="Raafc713ca26047b6" /><Relationship Type="http://schemas.openxmlformats.org/officeDocument/2006/relationships/image" Target="/ppt/media/image12.png" Id="R0f6c6ff6655e47e0" /><Relationship Type="http://schemas.openxmlformats.org/officeDocument/2006/relationships/notesSlide" Target="/ppt/notesSlides/notesSlide15.xml" Id="Rf0a832ae94414c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c0235887f41fe" /><Relationship Type="http://schemas.openxmlformats.org/officeDocument/2006/relationships/image" Target="/ppt/media/image13.png" Id="Rfe783f52d79e46bd" /><Relationship Type="http://schemas.openxmlformats.org/officeDocument/2006/relationships/image" Target="/ppt/media/image14.png" Id="Rae71f73b59564c43" /><Relationship Type="http://schemas.openxmlformats.org/officeDocument/2006/relationships/image" Target="/ppt/media/image15.png" Id="R2581382177ac4a17" /><Relationship Type="http://schemas.openxmlformats.org/officeDocument/2006/relationships/notesSlide" Target="/ppt/notesSlides/notesSlide16.xml" Id="R9d26a8f94f7143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8215d327e4aef" /><Relationship Type="http://schemas.openxmlformats.org/officeDocument/2006/relationships/notesSlide" Target="/ppt/notesSlides/notesSlide17.xml" Id="R2459516e6cb242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c881daa534ea4" /><Relationship Type="http://schemas.openxmlformats.org/officeDocument/2006/relationships/notesSlide" Target="/ppt/notesSlides/notesSlide18.xml" Id="R09589edd8a444d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eb50729f44968" /><Relationship Type="http://schemas.openxmlformats.org/officeDocument/2006/relationships/notesSlide" Target="/ppt/notesSlides/notesSlide19.xml" Id="Rf9a27c1412ef45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a94a371844edc" /><Relationship Type="http://schemas.openxmlformats.org/officeDocument/2006/relationships/notesSlide" Target="/ppt/notesSlides/notesSlide20.xml" Id="R390aec73864349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3fa477791491e" /><Relationship Type="http://schemas.openxmlformats.org/officeDocument/2006/relationships/notesSlide" Target="/ppt/notesSlides/notesSlide21.xml" Id="Ra01dea28af034d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eb4b34e544d99" /><Relationship Type="http://schemas.openxmlformats.org/officeDocument/2006/relationships/notesSlide" Target="/ppt/notesSlides/notesSlide22.xml" Id="R89e29248947948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b7820f5984439" /><Relationship Type="http://schemas.openxmlformats.org/officeDocument/2006/relationships/notesSlide" Target="/ppt/notesSlides/notesSlide23.xml" Id="Rcfb5766d229047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dde01430545d7" /><Relationship Type="http://schemas.openxmlformats.org/officeDocument/2006/relationships/notesSlide" Target="/ppt/notesSlides/notesSlide24.xml" Id="Ra72bed9066d249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0d17f8f7344a2" /><Relationship Type="http://schemas.openxmlformats.org/officeDocument/2006/relationships/notesSlide" Target="/ppt/notesSlides/notesSlide25.xml" Id="Rfc01544440984e9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95409b2484f6a" /><Relationship Type="http://schemas.openxmlformats.org/officeDocument/2006/relationships/notesSlide" Target="/ppt/notesSlides/notesSlide26.xml" Id="R66210f8dedd24e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2c2dd120a41a2" /><Relationship Type="http://schemas.openxmlformats.org/officeDocument/2006/relationships/image" Target="/ppt/media/image16.png" Id="Rc02c62af893b47ca" /><Relationship Type="http://schemas.openxmlformats.org/officeDocument/2006/relationships/image" Target="/ppt/media/image17.png" Id="R9917439f40dd421b" /><Relationship Type="http://schemas.openxmlformats.org/officeDocument/2006/relationships/image" Target="/ppt/media/image18.png" Id="R2b5acf90ec6d435f" /><Relationship Type="http://schemas.openxmlformats.org/officeDocument/2006/relationships/image" Target="/ppt/media/image19.png" Id="R1ff9e0010b304fa6" /><Relationship Type="http://schemas.openxmlformats.org/officeDocument/2006/relationships/image" Target="/ppt/media/image20.png" Id="Rf147964cf7ab4473" /><Relationship Type="http://schemas.openxmlformats.org/officeDocument/2006/relationships/notesSlide" Target="/ppt/notesSlides/notesSlide27.xml" Id="R1b6e1b372f5c49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2a1e69c0421f" /><Relationship Type="http://schemas.openxmlformats.org/officeDocument/2006/relationships/notesSlide" Target="/ppt/notesSlides/notesSlide28.xml" Id="Rf35c54e9f7334b3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d373eae4d4daa" /><Relationship Type="http://schemas.openxmlformats.org/officeDocument/2006/relationships/notesSlide" Target="/ppt/notesSlides/notesSlide29.xml" Id="R7beec379e4a94d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f9f034ebb4dc3" /><Relationship Type="http://schemas.openxmlformats.org/officeDocument/2006/relationships/notesSlide" Target="/ppt/notesSlides/notesSlide30.xml" Id="R3bd35e88931e41d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aa74a29274c0a" /><Relationship Type="http://schemas.openxmlformats.org/officeDocument/2006/relationships/notesSlide" Target="/ppt/notesSlides/notesSlide31.xml" Id="Red7d8508e0104ba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64a6a7bd643d7" /><Relationship Type="http://schemas.openxmlformats.org/officeDocument/2006/relationships/notesSlide" Target="/ppt/notesSlides/notesSlide32.xml" Id="R8d09b278cf21465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5599a16cf4cce" /><Relationship Type="http://schemas.openxmlformats.org/officeDocument/2006/relationships/notesSlide" Target="/ppt/notesSlides/notesSlide33.xml" Id="R25a35df0b7fc47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33f4b31664b61" /><Relationship Type="http://schemas.openxmlformats.org/officeDocument/2006/relationships/notesSlide" Target="/ppt/notesSlides/notesSlide34.xml" Id="R699e656459cd4a7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c9249fe6b4543" /><Relationship Type="http://schemas.openxmlformats.org/officeDocument/2006/relationships/notesSlide" Target="/ppt/notesSlides/notesSlide35.xml" Id="R60a0295d0e8a47f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4116e93a74c8b" /><Relationship Type="http://schemas.openxmlformats.org/officeDocument/2006/relationships/image" Target="/ppt/media/image21.png" Id="R4235a79fd0f44c6c" /><Relationship Type="http://schemas.openxmlformats.org/officeDocument/2006/relationships/notesSlide" Target="/ppt/notesSlides/notesSlide36.xml" Id="Rb6cad457eba840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08EAB-6653-4083-BD81-C8B1AA4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4B9F8-181E-49A5-8B08-F4089723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64B15-E45E-4381-9976-15E7779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KUSI Q’UMIR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8C538-190D-44AF-BBAB-FA2C2B7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09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5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Manual de</a:t>
            </a:r>
          </a:p>
          <a:p xmlns:a="http://schemas.openxmlformats.org/drawingml/2006/main">
            <a:pPr algn="l">
              <a:defRPr sz="5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5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marca digital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16D3D-76DA-4DA5-9697-A205CAB9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Sistema visual y operativo para web, redes sociales, publicidad, correo, WhatsApp y plataformas de reserva.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74CC8-C152-4095-8BA8-47A1DC5E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VERSIÓN 2.1 · AGOSTO 2026 · sRGB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adffcdd984a86"/>
          <a:stretch xmlns:a="http://schemas.openxmlformats.org/drawingml/2006/main"/>
        </p:blipFill>
        <p:spPr>
          <a:xfrm xmlns:a="http://schemas.openxmlformats.org/drawingml/2006/main">
            <a:off x="7524750" y="10668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28906-8C9D-4AE8-B297-D7AE2E3B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435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Un solo sistema para todos los puntos de contacto digitales.</a:t>
            </a:r>
          </a:p>
        </p:txBody>
      </p:sp>
    </p:spTree>
    <p:extLst>
      <p:ext uri="{BB962C8B-B14F-4D97-AF65-F5344CB8AC3E}">
        <p14:creationId xmlns:p14="http://schemas.microsoft.com/office/powerpoint/2010/main" val="2097814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3A3E3-9C89-4DBF-A8DA-B8954C7C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DDB96-3CB1-4C53-99BF-A4547F48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Este manual reemplaza las versiones anteriores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06A38-F083-44DA-8CDF-00D02F15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B8B4C-66DD-4A23-BF78-727F2789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83B65-A4B8-461C-8674-D3A0547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02/36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9F8D3-E1BD-408F-9C21-90D6607E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ALCANCE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7C745-A3E4-44E9-B465-BD7D972D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7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100 % digital por ahora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B0020-8270-4DD1-8C75-0A039B8B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Web, redes sociales, anuncios, perfiles, email, WhatsApp Business, plataformas de reserva y recursos descargables.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FF66C-13AB-4B5A-A605-6EFBF8DE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47BAB"/>
                </a:solidFill>
                <a:latin typeface="Inter"/>
                <a:ea typeface="Inter"/>
                <a:cs typeface="Inter"/>
              </a:rPr>
              <a:t>FUERA DE ALCANCE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C05A0-9C27-495A-A8CE-2FCC4550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CMYK, imprenta, bordado, uniformes y señalética se documentarán cuando exista una operación física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896E1-0457-488C-9C0F-68CD1720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0DC2E-3DBB-4869-BA99-00D5296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FUENTE CANÓNICA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8552A-07A4-42AE-BD98-0958B226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Logo Kit v1.3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BF135-43DC-46B8-BE5D-59B7873C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CE30D-A456-4E46-974A-CFBD17B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F3AA5-4182-4A6F-8AB5-8DCA542E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Geometría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781F8-A0CE-4EE4-BCB1-0BF7CD3A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se redibuja ni reinterpreta.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88FE4-72DC-43F6-8D84-2F1CA9F4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BF3A7-32A5-46C0-81FA-7BAA9C8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481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Color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D7AC3-B66A-4243-A95E-5EC61774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1480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K #9BBFE6; sol y Q #00ABAA; montaña #647BAB.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2AD4A-D772-4BF1-90FC-3A0575C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44225-F824-4391-9668-931FBA15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1010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Tipografía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11361-06AA-4E24-9308-E5391D0D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7680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Fjalla One + Inter, sin sustituciones visuales.</a:t>
            </a:r>
          </a:p>
        </p:txBody>
      </p:sp>
    </p:spTree>
    <p:extLst>
      <p:ext uri="{BB962C8B-B14F-4D97-AF65-F5344CB8AC3E}">
        <p14:creationId xmlns:p14="http://schemas.microsoft.com/office/powerpoint/2010/main" val="598779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0BDB7-6EF0-42A5-8BA2-BA93260B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DIRECCIÓN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50818-5B41-4B9C-AEF5-DEB1C452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La marca debe generar confianza antes del encuentro físico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53B15-9976-46D8-886A-9D119A57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794CF-3963-4034-937E-537E3D40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D11AE-33F7-4A8C-A68E-9AE249D4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03/36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37662-990F-4113-B5E1-FA3D110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345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Toda la operación comienza en una pantalla.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EB85A-4E4C-4B5F-8BE7-FB458BD3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Por eso la identidad no puede limitarse a verse bien: debe ayudar a reconocer, comprender y actuar sin dudas.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9D4DF-5768-47F7-BDD6-7CBEB74B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FC534-4B55-48F7-98DD-9E2EA41D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RECONOCER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49FA6-D054-449C-B1D0-EF62BA92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52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La misma marca en perfiles, anuncios y web.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83A02-847C-46AD-9BC6-0F176290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BBFE6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9BBFE6"/>
                </a:solidFill>
                <a:latin typeface="Fjalla One"/>
                <a:ea typeface="Fjalla One"/>
                <a:cs typeface="Fjalla On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72AB6-C62C-4808-8BFB-A1E7C133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33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COMPRENDER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0C4FE-AC2D-4391-A238-C43C8DF8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Información clara, jerarquía estable y lectura accesible.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AD668-E920-4963-AC6A-7E4365AC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6A23C-D3C2-4344-9194-6F3677A9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ACTUAR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1E9AD-149B-4EC8-ACC3-8679866A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CTA que describe el proceso real: consultar, reservar o solicitar.</a:t>
            </a:r>
          </a:p>
        </p:txBody>
      </p:sp>
    </p:spTree>
    <p:extLst>
      <p:ext uri="{BB962C8B-B14F-4D97-AF65-F5344CB8AC3E}">
        <p14:creationId xmlns:p14="http://schemas.microsoft.com/office/powerpoint/2010/main" val="1304596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7E97F-93A2-4DA6-B268-3713B0B2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MARCA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A2A8A-435E-490E-B658-19E1DD58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Una promesa clara organiza todo 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6DA97-4A9F-45FD-889C-D7D389A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830AC-F13B-4079-B09D-0CCAFDD0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01A78-1155-4E71-A6E0-095FC85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04/36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ACA90-7D24-41DB-8B55-49F31499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85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Kusi Q’umir crea experiencias auténticas en Cusco para viajeros que buscan cultura, paisaje y acompañamiento cercano.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BF4D5-FAAF-4DAA-B74B-BC036ECF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04950"/>
            <a:ext cx="3190875" cy="354330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0223B-2A7D-42E9-8B09-71FFBEC5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8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MENSAJE RECTOR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D6749-C507-4977-832C-32B4D7B8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85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Cusco auténtico,</a:t>
            </a:r>
          </a:p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85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experiencias que</a:t>
            </a:r>
          </a:p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85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permanecen.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9AB09-D28A-490A-802A-5FE5E924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No se integra dentro del logo.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BCC80-C987-425A-9080-4A34DCF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PROMESA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9EA71-F5E7-493B-89A3-2D8EB1F9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Conocer Cusco de una forma más cercana, clara, responsable y personalizada.</a:t>
            </a:r>
          </a:p>
        </p:txBody>
      </p:sp>
    </p:spTree>
    <p:extLst>
      <p:ext uri="{BB962C8B-B14F-4D97-AF65-F5344CB8AC3E}">
        <p14:creationId xmlns:p14="http://schemas.microsoft.com/office/powerpoint/2010/main" val="29771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00B6E-5FC2-40B3-AF9B-45A3E285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MARCA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4B3DC-C363-45F3-8259-DF485F7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Tres públicos, tres incertidumbres digitales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D6B65-7680-4D9D-800A-D55B42A5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D0760-7F4E-4FA8-8918-990E1F0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F5E34-0F65-4B30-BDD0-DF4DAC35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05/36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986D4-69E4-4C06-B9A7-F440B4F3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PÚBLICO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E4DB6-F84C-4598-8A4E-64E9C4F1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QUÉ TEME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74419-2820-4EA1-AFE4-FCAFBD0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QUÉ DEBE RESOLVER LA MARCA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8C21E-6728-4D4B-8D9F-9126784A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D66AA-C2C1-49D4-B25A-18FF84B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Turista peruano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7039A-8824-4FC7-A245-BF42430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Precio oculto o informalidad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B36C0-5F28-4BC1-BFCA-BE258B6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333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Precio total, medios de pago, horarios y responsable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F2092-DDA0-4C85-A7BA-8470497E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CDFF1-5806-44C9-A37F-9F94F730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Aventurero / mochilero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E4543-9415-4A70-9B62-2E2CADBF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Dificultad o restricciones incompletas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935C4-94B0-4D39-82DA-2E164BC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4333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Esfuerzo real, equipo, altura, ritmo e inclusiones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EF247-5AEB-457C-A370-8D6F55EE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2E272-3732-4BD4-B28F-AC99CF64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Viaje personalizado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01923-2984-48EC-8033-606CAB9C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Cotización vaga o respuesta lenta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53A69-6E3F-4183-A13C-A640AEA7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333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Brief corto, alcance, plazo de respuesta y siguiente paso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DD929-CD70-48A1-BA06-63798703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6120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5E3B8-A608-41E1-A6CF-F37B73B5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MARCA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AAF32-FB6C-43C5-B813-3B89E115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La personalidad se define también por sus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C5966-731E-468A-9C2E-D7319170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0ACDE-75A6-424A-A34D-6673F45E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C8A25-979E-4E60-97B4-0B986B86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06/36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4ECC6-1428-460B-9E59-99E4ECD8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4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Auténtica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884A9-D169-4F9C-B9DB-A167E114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8592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folclórica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D57A8-2BC5-4CB0-A7B5-E51AAD7D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762A4-5A2C-4449-BBAA-B9D0B5A9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240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Natural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94B71-F1F1-4AD5-AD4A-3526DC5B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8592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“verde” solo en discurso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035F1-6D31-4E19-848E-2937264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098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A81F9-D6DB-4066-A6E9-403C077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4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Joven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8DF26-4E61-4B8D-94C7-D7ECEC33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infantil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D4415-DDCF-4F6B-9A71-1295D71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F2438-3245-4725-AA89-05FA1ACC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051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4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Aventurera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0DDD8-3605-422B-A5A4-FDC808A5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9718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extrema por defecto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340DA-C485-4229-B91F-371B7A1A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956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4F872-3D69-4613-8A79-4F7BC62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240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Confiable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A23DD-EE68-4427-8280-D914D683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576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burocrática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644F9-B180-4050-BC95-711BF5B4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DF55F-00B2-42F9-9004-7533E84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191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4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Cuidada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F5D0F-8240-4F0C-A604-6388E147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576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ostentosa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99D69-EED5-4643-B42D-4E90A4B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7815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0729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7BEBD-14D0-422B-AC37-208A6027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VOZ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F47CC-7BA1-4A2B-BA93-4F59915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Hablar como un guía local preparado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F3948-6DF4-42BB-8FEC-26EC655E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44221-0B80-4A47-A2BB-0D96979D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982FE-ADFE-4F5E-85EA-C4477C6E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07/36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A4A62-7F0D-4FD3-9DE7-80E2661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Clara · cercana · concreta · respetuosa · entusiasta sin exageración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64BB9-9799-4292-8285-E6CEC5C7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70FF0-C4F6-40A3-9D0D-5366F564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B42318"/>
                </a:solidFill>
                <a:latin typeface="Inter"/>
                <a:ea typeface="Inter"/>
                <a:cs typeface="Inter"/>
              </a:rPr>
              <a:t>EVITAR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7D52C-2F69-433C-91F8-9022739E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“Vive una experiencia inolvidable.”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“El mejor tour al mejor precio.”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“Somos eco-friendly.”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“Apto para todos.”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69CC6-4D0B-4351-B175-FB6F89CF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EB1D5-62E2-4F98-BADC-F7B31A7F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PREFERIR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8DD66-C351-47E2-82CE-FE79097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370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Explicar el itinerario y el acompañamiento.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Mostrar qué incluye y cuánto exige.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Describir prácticas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Indicar edad, altura, esfuerzo y restricciones.</a:t>
            </a:r>
          </a:p>
        </p:txBody>
      </p:sp>
    </p:spTree>
    <p:extLst>
      <p:ext uri="{BB962C8B-B14F-4D97-AF65-F5344CB8AC3E}">
        <p14:creationId xmlns:p14="http://schemas.microsoft.com/office/powerpoint/2010/main" val="188491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F03ACA-ADC1-4202-A133-9230B2A0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CONTENIDO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C6605-EA78-4081-9D33-4040C021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contenido debe reducir incertidumbre, no solo inspirar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65568-C460-48A5-894F-6E858A2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337FA-17C2-480F-AEC7-3B74F818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4613D-8A6E-4712-8079-82CF185F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08/36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33F0B-BA6D-4CE0-BE76-9E5A5EC6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35 %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859AA-8428-4A04-B1B7-45A808D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Preparar el viaje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EAFF6-70DB-4EAA-8814-6FA318C2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A0147-A0BB-4E66-A882-1C5E1A5A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25 %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C00F0-4140-4B0B-AFB8-1B34D27C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Destinos y cultura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A5095-E7BB-4ED9-90D2-4C99A4A3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79EA6-3B7A-403D-80FA-11AC1557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20 %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374C3-5446-4B29-8B5F-182D3C9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Producto y disponibilidad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63C85-9305-4C00-91D7-DE57CBA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286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E4F0A-EEE5-4418-ADBB-AF1FBABC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BBFE6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9BBFE6"/>
                </a:solidFill>
                <a:latin typeface="Fjalla One"/>
                <a:ea typeface="Fjalla One"/>
                <a:cs typeface="Fjalla One"/>
              </a:rPr>
              <a:t>10 %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2D5FD-7824-4B21-9E27-D2146BC6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Prueba social verificada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69F77-0027-4E83-9930-CAD3725B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1143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CCFF7-6B1A-4895-9E2F-1B80DCD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rPr>
              <a:t>10 %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257D8-1F1A-4BC4-B57B-2DEF6BF0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Operación responsable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B48C1-6259-4C9F-83C5-0F1113B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1143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A69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84995-D51D-43B4-8F88-B93355CE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75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Mezcla inicial recomendada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2233B-EBBE-4806-BBB3-BB6F7B10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Es una base editorial, no una cuota rígida. Debe ajustarse con datos reales de consultas, reservas y preguntas frecuentes.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2CC863-4340-4E90-B720-C4D9C6DD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42318"/>
                </a:solidFill>
                <a:latin typeface="Inter"/>
                <a:ea typeface="Inter"/>
                <a:cs typeface="Inter"/>
              </a:rPr>
              <a:t>No publicar reseñas inventadas ni imágenes generadas como evidencia de un tour real.</a:t>
            </a:r>
          </a:p>
        </p:txBody>
      </p:sp>
    </p:spTree>
    <p:extLst>
      <p:ext uri="{BB962C8B-B14F-4D97-AF65-F5344CB8AC3E}">
        <p14:creationId xmlns:p14="http://schemas.microsoft.com/office/powerpoint/2010/main" val="341621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6C4F6-1DD8-489D-8836-9D470319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NOMBRE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4C2C3-A7EB-4E3E-8039-0C5B5613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Una escritura estable evita fragmentar la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27F03-544D-4A45-AEE5-80FD3E10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5D903-4D30-458B-9104-6E3F994D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D69BB-18E0-4887-AC66-6C8C1165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09/36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050FD-59DF-40CA-9EA4-A0AAD7B5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5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Kusi Q’umir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C2263-5DA7-4091-B4E2-2B242314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Forma visible preferida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64294-914E-4151-AD8B-83B2EF44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FE81A-1EE6-4368-A923-9EF36C31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Sistemas sin apóstrofo tipográfico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7B992-1CF5-4EB6-A541-ACFF0F94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Kusi Q'umir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C06C8-0EDD-4627-8F64-89E4EBF8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URL, slug y archivos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BA9A6-4B54-4AE4-A98C-DF0CD95E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671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kusi-qumir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E5D53-258D-4961-9042-4F8B7DA8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Nunca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2203D-C56C-480B-BA02-FFDC602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BBFE6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9BBFE6"/>
                </a:solidFill>
                <a:latin typeface="Fjalla One"/>
                <a:ea typeface="Fjalla One"/>
                <a:cs typeface="Fjalla One"/>
              </a:rPr>
              <a:t>KusiQumir / Kusi Qumir / Q’umir Kusi</a:t>
            </a:r>
          </a:p>
        </p:txBody>
      </p:sp>
    </p:spTree>
    <p:extLst>
      <p:ext uri="{BB962C8B-B14F-4D97-AF65-F5344CB8AC3E}">
        <p14:creationId xmlns:p14="http://schemas.microsoft.com/office/powerpoint/2010/main" val="351817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7D28D-7786-45FB-85AA-7995BF0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LOGOTIPO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8EE66-947A-4AA6-92D5-55133B72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logo horizontal es la firma digital principal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1C906-2A8E-4690-8A72-8AB51D3F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135A1-4A6E-4E53-AF32-5D0EBDC1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4748-BA9F-47A2-A9D8-07193781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10/36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84c2d18d64d9e"/>
          <a:stretch xmlns:a="http://schemas.openxmlformats.org/drawingml/2006/main"/>
        </p:blipFill>
        <p:spPr>
          <a:xfrm xmlns:a="http://schemas.openxmlformats.org/drawingml/2006/main">
            <a:off x="1732327" y="1524000"/>
            <a:ext cx="8651147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5CD16-D92E-4C29-B802-4CF33CE4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38FD5-0563-41F1-94BB-570EF254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Usar en encabezados web, firmas, portadas, anuncios horizontales y documentos digitales.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13B02-53CD-4B7E-BA64-CFA903CF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El claim siempre vive fuera del logo.</a:t>
            </a:r>
          </a:p>
        </p:txBody>
      </p:sp>
    </p:spTree>
    <p:extLst>
      <p:ext uri="{BB962C8B-B14F-4D97-AF65-F5344CB8AC3E}">
        <p14:creationId xmlns:p14="http://schemas.microsoft.com/office/powerpoint/2010/main" val="94496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504A1-C633-46B3-8949-98A43CE7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ISOTIPO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379F7-AE04-4288-A675-D7765C5B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Territorio, luz y recorrido en una sola 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EDA9-3EBC-4581-A14E-FEA8B24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2870A-5AE4-44B9-8655-5B8B12B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694A9-D2DE-4DFC-8DD3-8F18B97C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11/36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70aa4e9884e8f"/>
          <a:stretch xmlns:a="http://schemas.openxmlformats.org/drawingml/2006/main"/>
        </p:blipFill>
        <p:spPr>
          <a:xfrm xmlns:a="http://schemas.openxmlformats.org/drawingml/2006/main">
            <a:off x="742950" y="1428750"/>
            <a:ext cx="4572000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B4633-BBDA-49C0-952B-28EB80F8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7249C-1BAA-4653-B1CD-F2FA5424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Montañas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B5941-564B-4B95-837C-73D57B9C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Territorio y contexto andino.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535EC-FF9C-4376-B600-2ECA190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030B3-0EF9-45B5-AA73-74C42B3C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Sol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E495D-4CE5-4C58-851A-3EEDF91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765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Energía, bienvenida y origen.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9CCFC-AA70-436E-A0FC-D080DAF0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81AEB-E036-4997-B874-D5F2410A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K / Río Andino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DBC2F-7B41-47AB-A707-5CF63D38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05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Cauce, movimiento y ruta.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D32FA-BC27-4B7A-8374-75655014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E1863-FB92-4939-8CAF-F8E3B584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Q / Recorrido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3C4BE-F293-41B0-A5A0-B456027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339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Experiencia, continuidad y regreso.</a:t>
            </a:r>
          </a:p>
        </p:txBody>
      </p:sp>
    </p:spTree>
    <p:extLst>
      <p:ext uri="{BB962C8B-B14F-4D97-AF65-F5344CB8AC3E}">
        <p14:creationId xmlns:p14="http://schemas.microsoft.com/office/powerpoint/2010/main" val="312790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13061-E6D5-4EC6-8A4E-819F110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LOGOTIPO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4DB16-5863-419C-8D8F-10CF945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Cada espacio digital tiene una configuración correcta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FBAF0-AE38-4D3C-A457-BFE8D405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965F9-5098-4322-9F92-CEF7F546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EE8B1-4118-4A07-BE16-8FC3B756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12/36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4448B-C14A-4300-BBD0-05FBBB20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3158cbdbe4b27"/>
          <a:stretch xmlns:a="http://schemas.openxmlformats.org/drawingml/2006/main"/>
        </p:blipFill>
        <p:spPr>
          <a:xfrm xmlns:a="http://schemas.openxmlformats.org/drawingml/2006/main">
            <a:off x="1851520" y="1676400"/>
            <a:ext cx="262156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C0DF2-5819-4986-ABF4-16F2D65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Horizontal · navegación y firma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08DC7-8CC5-44CA-8FD0-7078D26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143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29a5628444228"/>
          <a:stretch xmlns:a="http://schemas.openxmlformats.org/drawingml/2006/main"/>
        </p:blipFill>
        <p:spPr>
          <a:xfrm xmlns:a="http://schemas.openxmlformats.org/drawingml/2006/main">
            <a:off x="8062232" y="1638300"/>
            <a:ext cx="1306286" cy="1143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A069E-8F18-4899-BBF0-F4266434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Principal · portada y composición centrada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AD2B8-ECFA-4C2A-909F-0AECA6C2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0d0c1922e432d"/>
          <a:stretch xmlns:a="http://schemas.openxmlformats.org/drawingml/2006/main"/>
        </p:blipFill>
        <p:spPr>
          <a:xfrm xmlns:a="http://schemas.openxmlformats.org/drawingml/2006/main">
            <a:off x="2533650" y="37147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33FF2-4024-4831-A31D-50757337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Isotipo · avatar amplio y recurso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E749F-066A-42FA-B81B-C1913E63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647BA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a68c4d063467f"/>
          <a:stretch xmlns:a="http://schemas.openxmlformats.org/drawingml/2006/main"/>
        </p:blipFill>
        <p:spPr>
          <a:xfrm xmlns:a="http://schemas.openxmlformats.org/drawingml/2006/main">
            <a:off x="8143875" y="371475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11DC9-4055-4F7B-BE1A-96AA7E4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App icon · instalación PWA</a:t>
            </a:r>
          </a:p>
        </p:txBody>
      </p:sp>
    </p:spTree>
    <p:extLst>
      <p:ext uri="{BB962C8B-B14F-4D97-AF65-F5344CB8AC3E}">
        <p14:creationId xmlns:p14="http://schemas.microsoft.com/office/powerpoint/2010/main" val="1829571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E9421-432F-4F9A-BD4A-A9F64519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LOGOTIPO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6875F-953B-4188-930F-D9F988DF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aire alrededor del logo también es parte de la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4EC84-6761-44D7-B1AA-93AB9B23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63AA0-3BCC-4CDE-A3EE-BA7205B1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EEBF8-0F2E-4A8E-8762-56E64CC4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13/36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4330D-740D-41F0-8685-C38DF08D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8096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BFE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b6671fe7c4c55"/>
          <a:stretch xmlns:a="http://schemas.openxmlformats.org/drawingml/2006/main"/>
        </p:blipFill>
        <p:spPr>
          <a:xfrm xmlns:a="http://schemas.openxmlformats.org/drawingml/2006/main">
            <a:off x="2662543" y="2305050"/>
            <a:ext cx="4980963" cy="1809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2A2A2-F658-4936-A92E-EDC2A034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69446-D981-437D-901B-10F4C6C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9FE58-E602-474F-9ED2-DC5B76A1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390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0A84D-EC1D-438D-8DBE-3531C1AB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434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E3DE1-194D-4566-8F1C-7EFD3801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62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UNIDAD 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5E25A-CE0C-4C05-AA13-ECF9B41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x equivale al diámetro del sol.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CD308-B078-4B76-859D-F6E3A1F5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colocar texto, bordes, iconos ni sellos dentro de esa zona.</a:t>
            </a:r>
          </a:p>
        </p:txBody>
      </p:sp>
    </p:spTree>
    <p:extLst>
      <p:ext uri="{BB962C8B-B14F-4D97-AF65-F5344CB8AC3E}">
        <p14:creationId xmlns:p14="http://schemas.microsoft.com/office/powerpoint/2010/main" val="538455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6D45FA-0559-40B3-939A-47457C8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LOGOTIPO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8BFDA-9E28-4686-BF5C-DC2630FA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La marca cambia de configuración antes de perder legibilidad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2303F-0E53-4BD8-9A9E-B3150E5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A18E7-9C2D-4BE4-962D-4771EB47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FC498-CC43-4053-A89B-A525EFE5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14/36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69753-5895-4501-8FE5-62E53A93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ANCHO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1E8DB-67AD-442E-B5DD-5C1B2B28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VERSIÓN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26542-F004-4C45-9F36-81395FB1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USO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3635E-0CAB-4B5E-9A0F-B8F1B84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A76BF-E176-4990-BBF4-00FA977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&gt;= 160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54599-470C-4B20-A381-7F8BBC6A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621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Logo horizontal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8B2CE-B066-467C-947F-97BBC1A3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621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Navegación, firma y encabezados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D4F96-C3F1-4218-913B-B0E1E12C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4FE41-C987-45F2-A511-4347DA04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&gt;= 120 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46849-F6B3-4F0A-98BC-68ECA52F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384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Logo principal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EB360-25D3-4FC8-8F8D-7243939F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Portadas y composiciones centradas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61E07-5DCD-455B-BC61-5F23AB1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31F4F-E5B8-41FB-9EF5-94E76828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&gt;= 48 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C6BA5-142D-4C97-BDC3-E9EE4039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147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Isotipo transparente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D71AB-EDE6-43F3-A9B3-9B9CD46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Avatar amplio e icono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25A33-A224-462C-B99C-236D9F55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194D0-A3BD-4728-8FAC-766E88B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16-32 px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AF17E-3B26-4CE6-9695-01B857A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910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Favicon transparente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C928EE-4FC6-4723-BBA5-2EDA84A0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91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Pestaña del navegador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122BA-1919-4B40-A69D-1906C3AD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53ED7-8041-4942-90A3-51C88644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42318"/>
                </a:solidFill>
                <a:latin typeface="Inter"/>
                <a:ea typeface="Inter"/>
                <a:cs typeface="Inter"/>
              </a:rPr>
              <a:t>No reducir el logo completo hasta que “quepa”. Cambiar a isotipo o favicon.</a:t>
            </a:r>
          </a:p>
        </p:txBody>
      </p:sp>
    </p:spTree>
    <p:extLst>
      <p:ext uri="{BB962C8B-B14F-4D97-AF65-F5344CB8AC3E}">
        <p14:creationId xmlns:p14="http://schemas.microsoft.com/office/powerpoint/2010/main" val="5848698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BFA11-5997-42D7-993E-1D839934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LOGOTIPO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8FF26-FF59-409F-829B-0578BA6F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Avatar, favicon y app icon son adaptaciones ópticas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E88CD-19D4-417E-9597-2CAB3EA0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70866-469A-41F3-A005-82397D53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06071-040B-4C80-8BDD-52F002C2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15/36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DB2E7-FB5C-4E47-800D-D5C65DB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d403ecf404f59"/>
          <a:stretch xmlns:a="http://schemas.openxmlformats.org/drawingml/2006/main"/>
        </p:blipFill>
        <p:spPr>
          <a:xfrm xmlns:a="http://schemas.openxmlformats.org/drawingml/2006/main">
            <a:off x="1095375" y="1933575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B7F3-776A-4B78-B536-54755A56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Avatar / PWA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A172F-26AF-4712-A99C-31DE15F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76400"/>
            <a:ext cx="2286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4a1f3f1c34775"/>
          <a:stretch xmlns:a="http://schemas.openxmlformats.org/drawingml/2006/main"/>
        </p:blipFill>
        <p:spPr>
          <a:xfrm xmlns:a="http://schemas.openxmlformats.org/drawingml/2006/main">
            <a:off x="5200650" y="2209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A3DE4-A876-4B55-B643-E2503D4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64 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3BBEA-E319-40AD-BDA3-950312D9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713ca26047b6"/>
          <a:stretch xmlns:a="http://schemas.openxmlformats.org/drawingml/2006/main"/>
        </p:blipFill>
        <p:spPr>
          <a:xfrm xmlns:a="http://schemas.openxmlformats.org/drawingml/2006/main">
            <a:off x="8029575" y="218122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63278-00BF-4381-B6D4-E29B896B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32 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E28EF-8825-40DF-955C-BD78349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1238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c6ff6655e47e0"/>
          <a:stretch xmlns:a="http://schemas.openxmlformats.org/drawingml/2006/main"/>
        </p:blipFill>
        <p:spPr>
          <a:xfrm xmlns:a="http://schemas.openxmlformats.org/drawingml/2006/main">
            <a:off x="10086975" y="21431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C664B-FB31-4D5A-BE10-155D0A2B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16 px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6261C-2211-4220-B29B-E99AEAA1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El favicon usa transparencia y los colores canónicos del isotipo. Probarlo en pestañas claras y oscuras. Los iconos PWA y Apple Touch conservan fondo slate porque los sistemas pueden aplicar máscaras.</a:t>
            </a:r>
          </a:p>
        </p:txBody>
      </p:sp>
    </p:spTree>
    <p:extLst>
      <p:ext uri="{BB962C8B-B14F-4D97-AF65-F5344CB8AC3E}">
        <p14:creationId xmlns:p14="http://schemas.microsoft.com/office/powerpoint/2010/main" val="20936921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FC513-845D-42D8-90E8-89B15CC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LOGOTIPO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10231-46EA-46B4-B885-D86464A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fondo nunca debe competir con la firma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37F90-6900-4E55-8E40-E19C125C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39210-F8EA-48EC-B051-F6301E0F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D442-94DF-432B-B951-10DE58A9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16/36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B3232-439A-41AB-BB2A-F77682A1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83f52d79e46bd"/>
          <a:stretch xmlns:a="http://schemas.openxmlformats.org/drawingml/2006/main"/>
        </p:blipFill>
        <p:spPr>
          <a:xfrm xmlns:a="http://schemas.openxmlformats.org/drawingml/2006/main">
            <a:off x="952500" y="2424970"/>
            <a:ext cx="2800350" cy="101746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17BED-131F-4265-B2A7-4361C857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Fondo claro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14EFF-5C76-4AB1-9799-AD448E62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1f73b59564c43"/>
          <a:stretch xmlns:a="http://schemas.openxmlformats.org/drawingml/2006/main"/>
        </p:blipFill>
        <p:spPr>
          <a:xfrm xmlns:a="http://schemas.openxmlformats.org/drawingml/2006/main">
            <a:off x="4686300" y="2421509"/>
            <a:ext cx="2819400" cy="102438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8661D-B87F-46E3-A724-DACBD6CC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76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Fondo oscuro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E1731-F43B-4A9A-AB7A-C1D3FF8C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81150"/>
            <a:ext cx="31813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DA166-6A8C-473A-92D7-D09CD32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647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1382177ac4a17"/>
          <a:stretch xmlns:a="http://schemas.openxmlformats.org/drawingml/2006/main"/>
        </p:blipFill>
        <p:spPr>
          <a:xfrm xmlns:a="http://schemas.openxmlformats.org/drawingml/2006/main">
            <a:off x="8629650" y="2524030"/>
            <a:ext cx="2228850" cy="809816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44060-C9C5-493B-8A0A-C28A2537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Foto o textura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6FAE6-50AF-4882-9ADE-97F97CA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318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Usar placa blanca o slate cuando el contraste sea irregular.</a:t>
            </a:r>
          </a:p>
        </p:txBody>
      </p:sp>
    </p:spTree>
    <p:extLst>
      <p:ext uri="{BB962C8B-B14F-4D97-AF65-F5344CB8AC3E}">
        <p14:creationId xmlns:p14="http://schemas.microsoft.com/office/powerpoint/2010/main" val="13224320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A67EC5-62B6-4734-9375-96D6F12B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LOGOTIPO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163F2-19CC-4665-A554-7EC7111A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La consistencia depende de lo que dejamos de hacer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238CA-4D7D-4CD2-9506-03B73CEF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27328-C315-42F8-AE70-58BB9EF2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0332F-2386-44BF-AC2C-F42F21E4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17/36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01D09-6322-40CE-9C2E-6308120B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3DAEF-4899-4A96-9D19-5B517016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EBDAF-28BE-44AE-97A1-46F7FBF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19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Estirar, comprimir, inclinar o rotar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70BAB-14C0-4FEE-A11E-18385643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08837-4CB8-4EB3-B650-EF0B2BFA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C769C-640D-4305-A061-7EBF7420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8B245-E1C4-4FC3-84FC-48DF181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Cambiar la K azul por otro tono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F360A-47A9-4D87-9F82-EFEE0B52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7CADD-D4BC-479C-94E7-BBFEB95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4DA2E-4787-49BA-848B-09740959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AA02F-5DC0-4110-B235-5B23FAA0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Introducir variantes cromáticas heredadas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9A3EE-D55F-4095-84A1-0178B6C8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33E7E-317E-4074-A2D2-FD18F8F9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C81D9-C41D-48FC-BE3E-BAF7178C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B658B-F6BA-4013-A39C-E26D7930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96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Añadir degradados, sombras o contornos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72A6A-DC2A-4787-BFE5-23D4380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E74FE-9ACE-4D2E-B4DA-59961E7F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38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33C38-9624-46C8-B9A2-79133EB2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002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339F5-F30E-4BE1-B791-A79ED30A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19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Mover piezas del isotipo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32412-845F-4B07-AF49-920D5658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9075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7FFE1-8121-4621-972C-F027B683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C085B-7918-4742-A3A6-A0309FC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336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FA0C5-4897-45AE-A602-31D31D6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527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Cambiar Fjalla One del logotipo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66402-EF12-41DD-87BE-45B1F707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2420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D8080-914A-448D-91D0-4B014E5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505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46789-1E04-42E0-BEBC-6FAC857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B5A8D9-6C0C-4F8E-B104-8DFC3B59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86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Colocarlo directo sobre foto ruidosa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0495B5-5842-4AE0-85DB-820BFCB4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5765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8C7F2D-941A-4332-89C7-C3EC62DB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78F0A-3894-4712-85B6-BA080AC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005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FBC7F0-FC9B-4AAC-8493-C1B658FA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196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Integrar claim, URL o teléfono al logo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569E1-C499-4F37-9CA7-7DDC1A8C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991100"/>
            <a:ext cx="423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70122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C3AB3-8F59-4BA5-975E-B492B3B8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7A654-C8BD-42AF-9E7F-E669BE1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767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Q’UMIR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E6307-5FDE-475B-A540-95806577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339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Energía y acción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3E550-1C31-45A4-A9FB-EB2366A4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864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#00ABAA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6D5C2-8CCA-4A4F-A046-8170E480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A6E3B-0EF8-4FCD-AD48-D460C5E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RÍO ANDINO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AF5B0-18DA-41D9-8905-4D01A5F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339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Cauce y claridad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F8DC6-022F-4C46-B876-E7967A00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864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#9BBFE6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78304-6506-47E8-BBCD-A07CF944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B8470-E728-462C-87B5-C27B253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MONTAÑA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BBB1E-7D2E-4BBE-BB77-E1266DEB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Territorio y apoyo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9C310-95A0-4CFA-A7B0-C3658CA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864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#647BAB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D86FD-7464-41D1-A991-340A2902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DB154-58A2-4AD0-8B3D-5EF146A1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TINTA ANDINA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D7787-7CE8-4BD9-B3CB-EF01ED66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339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Texto y autoridad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A22C0-DD32-49D7-A78C-F8CC7C7A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#0F172A</a:t>
            </a:r>
          </a:p>
        </p:txBody>
      </p:sp>
    </p:spTree>
    <p:extLst>
      <p:ext uri="{BB962C8B-B14F-4D97-AF65-F5344CB8AC3E}">
        <p14:creationId xmlns:p14="http://schemas.microsoft.com/office/powerpoint/2010/main" val="17175643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50DDA8-9751-4FC9-A9F2-C077251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COLOR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4E9DA-C4DD-4425-8586-F142EA0D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Los cuatro colores cumplen funciones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805F8-8E71-4F60-8B42-33451C32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96A5F-CB78-4464-A420-15BF4C43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128D3-70ED-449D-AEF8-7F05A77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19/36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ADD87-F40A-435E-8327-88F8476A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2DBD8-0CFF-437A-BB9C-3E09436E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43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Q’umir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196C4-88E1-4E52-9A45-AA47AA55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62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#00ABAA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3A0E0-CA52-4435-9D68-F86DC9B7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RGB 0, 171, 170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69396-FF4D-4FAF-B5B8-DD09AB72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430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Sol, Q, CTA y acento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B6B56-CC72-49BB-8B7B-DA45E6FD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28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5386E-9AF7-4802-929F-052AB9C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CACF6-9C4F-423D-864D-C748205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Río Andino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A5B01-A95B-4FFF-A6AE-53A87A19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#9BBFE6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2CEE6-7AE2-4B51-933E-00495EB8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RGB 155, 191, 230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AA380-9BA5-47A7-9FF5-7C61661D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K, fondos suaves y apoyo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D1FDA-1CD3-4190-9FF8-2159C98C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956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7E02F-A425-4A6D-8484-369527E5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6E1D1-E1EA-4A5A-8522-71510FC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76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Montaña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7FAA7-324E-4587-900D-DDC126B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#647BAB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1F407-84DF-42BE-8D28-3DC16919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RGB 100, 123, 171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682A5-8CD9-42F0-A4B4-DECE8B45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Territorio y elementos editoriales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9F8EA-C8EB-49DB-9001-C382589A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EC3AA-04F0-41A0-B8FB-CF42FD97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9B6A2-5D1E-45D8-B860-02C53152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9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Tinta Andina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3F0C6-5FBC-4EB1-9380-45959096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#0F172A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C47C3-A6FC-446E-A657-32B6D1E5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RGB 15, 23, 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4AFF6-248B-4FF6-909D-B0C541A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43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Texto, navegación y fondo oscuro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D0E59-1399-4F35-B086-9D8568BB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8836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9FBB3-EC9D-442A-9C5D-55CA878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COLOR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29F2C-4F6A-4089-B149-90CBD00F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Neutros y estados se mantienen fuera del 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C5785-A68C-417B-ABCF-66997F5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F3C02-0EF5-44BB-A789-2C2106CB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435A4-7C6F-475C-A0D7-2D49A378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20/36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58F9F-9716-419F-9A88-64E7C847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NEUTROS OPERATIVOS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18E16-31FC-4C24-8256-C922649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57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9F9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59B83-8107-4A61-B80B-BAF2BB9B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0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Canvas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CA899-B96E-481F-85C0-2BE042BA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#F6F9F9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A3985-2D3D-475C-AB7F-97917A7A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857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86459-3E76-490C-9474-8A73EAE9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38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76082-B777-44DA-9C52-BCDF8FE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#FFFFFF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66D13-E5D2-4C31-9231-242D8770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857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E3E5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531AB-23B5-465C-AF57-7644AEF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76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F06BC-E41C-4520-86A0-66246520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76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#D9E3E5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EDC21-A83F-4A59-A2AB-BF4F3781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A697B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77639-10BB-4834-8F22-E866E614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14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Muted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200EB-D629-4CCC-8BBC-BA6DE876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#5A697B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E448A-3A92-4794-AA20-AFA4B29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47BAB"/>
                </a:solidFill>
                <a:latin typeface="Inter"/>
                <a:ea typeface="Inter"/>
                <a:cs typeface="Inter"/>
              </a:rPr>
              <a:t>ESTADOS FUNCIONALES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A9811-C880-48BC-8626-AFA2DE9B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1143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3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A18CE-B44A-4269-AD82-F3B452C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Confirmación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28429-9EC6-4B5F-97ED-37A1C68E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#13795B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D855D-3A86-4486-9635-DDEF16F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143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E7D6F0-30E6-4696-B547-DB61DB7A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Advertencia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E151D-9496-46E9-B6B9-3F2E056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#8A5A00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0C95A-3E09-43F6-A89E-E1D4510C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1143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0CE8C-6D07-4F2F-93C7-CA48C4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Error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B1898-7122-4FDA-A881-4B184CB1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#B42318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61F66-195C-4D82-B4F5-934F11E0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forman parte del logo. Siempre combinar color + icono + texto; nunca comunicar un estado solo por color.</a:t>
            </a:r>
          </a:p>
        </p:txBody>
      </p:sp>
    </p:spTree>
    <p:extLst>
      <p:ext uri="{BB962C8B-B14F-4D97-AF65-F5344CB8AC3E}">
        <p14:creationId xmlns:p14="http://schemas.microsoft.com/office/powerpoint/2010/main" val="1585827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BDF199-C462-4F7B-BEC1-7DA6065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ACCESIBILIDAD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84996-15FF-4FC2-84E2-E6F6D825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contraste decide qué combinaciones son operativas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51442-EE91-4D4B-833F-B5646A60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FFC80-C47B-4FCA-96D6-9C10098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9651F-6635-4C4C-B741-E35AEC2F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21/36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BCF02-4038-4B26-9999-DA264D9E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MUESTRA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A29A-CD23-4057-AD75-A041881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66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RATIO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3624F-0913-4926-9EE3-D840E4F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EFABF-3881-4585-9107-993725C7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4171A-227C-4C35-B3E6-6F26C99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224B8-66E9-4C2D-A228-77EB2DC4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solidFill>
              <a:srgbClr val="D9E3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409C5-944B-4981-9CD1-39242FC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81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75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Aa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0751A-2270-4F88-B2D3-CBABA403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9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6.30:1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6D28-C1C4-4EB3-AA49-3A3EF638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3795B"/>
                </a:solidFill>
                <a:latin typeface="Inter"/>
                <a:ea typeface="Inter"/>
                <a:cs typeface="Inter"/>
              </a:rPr>
              <a:t>APTO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54ABC-11F5-4317-8F8D-400D223C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Botones y texto normal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B4BA1-4233-4D67-AF40-6C98DBC2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solidFill>
              <a:srgbClr val="D9E3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01EAB-0667-43D1-A2AC-0200C2E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47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75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Aa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9DE8C-ECE8-49E4-91E3-48663784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9.34:1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8ABB2-D4E7-4B82-ABBF-E2538528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3795B"/>
                </a:solidFill>
                <a:latin typeface="Inter"/>
                <a:ea typeface="Inter"/>
                <a:cs typeface="Inter"/>
              </a:rPr>
              <a:t>APTO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9980C-A8EB-4299-AC8B-EBD8690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Fondos informativos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F2A8A-9023-40A0-9226-8B0B3DDF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D9E3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0DE2E-9A83-4571-89B5-286D12E3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14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1875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Aa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2C223-7B0A-438A-BF63-ED2975AD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17.85:1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92FA0-3B4C-4C35-8E4C-240D5104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3795B"/>
                </a:solidFill>
                <a:latin typeface="Inter"/>
                <a:ea typeface="Inter"/>
                <a:cs typeface="Inter"/>
              </a:rPr>
              <a:t>APTO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D20AD-777C-4E5C-8043-AF08587F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Fondos oscuros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2CF4E-0E8A-4341-A40F-55A423C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7BA34-B6F6-414E-94F7-3570B06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814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1875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Aa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38421-C254-4F80-A5D8-28B2A36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4.23:1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36481-26A1-4452-9B02-C3FED1DC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5A00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LIMITADO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F9A59-0A81-4515-89D6-A6A74360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Solo texto grande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12CB0-B6A0-47B5-B911-50029CD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6A85C-721B-4B65-A6B6-D93692E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48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1875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Aa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B280C-75DE-4DE5-8547-B00A7539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2.84:1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CB4B61-BB37-448E-8ED2-B062FC5D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42318"/>
                </a:solidFill>
                <a:latin typeface="Inter"/>
                <a:ea typeface="Inter"/>
                <a:cs typeface="Inter"/>
              </a:rPr>
              <a:t>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17B96F-4B07-48B3-AC75-A9CE236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usar como texto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E856AF-5887-49B8-89D1-B68B64C1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82633D-D114-4C94-A23E-DFDAC9B4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9BBFE6"/>
                </a:solidFill>
                <a:latin typeface="Fjalla One"/>
                <a:ea typeface="Fjalla One"/>
                <a:cs typeface="Fjalla One"/>
              </a:defRPr>
            </a:pPr>
            <a:r>
              <a:rPr sz="1875" b="0">
                <a:solidFill>
                  <a:srgbClr val="9BBFE6"/>
                </a:solidFill>
                <a:latin typeface="Fjalla One"/>
                <a:ea typeface="Fjalla One"/>
                <a:cs typeface="Fjalla One"/>
              </a:rPr>
              <a:t>Aa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6D64BE-D4D8-4B6E-ADC0-D6532FC1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30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1.91:1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5A5C08-9C9B-4441-BBC6-5BBE1FF5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53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B42318"/>
                </a:solidFill>
                <a:latin typeface="Inter"/>
                <a:ea typeface="Inter"/>
                <a:cs typeface="Inter"/>
              </a:rPr>
              <a:t>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92AB6D-216D-4057-A737-D25DEB48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usar como texto</a:t>
            </a:r>
          </a:p>
        </p:txBody>
      </p:sp>
    </p:spTree>
    <p:extLst>
      <p:ext uri="{BB962C8B-B14F-4D97-AF65-F5344CB8AC3E}">
        <p14:creationId xmlns:p14="http://schemas.microsoft.com/office/powerpoint/2010/main" val="16859115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971A7-FBC3-417A-8CE7-6AE3FB83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COLOR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00797-E9BA-437C-954F-163E27B6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El color de marca funciona mejor cuando no invade toda la interfaz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ADB16-29DF-4930-A40B-F617C3D7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434D1-17F4-4CFA-8625-893AA58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06BB8-6C75-4203-AA8B-AF12E21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22/36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42BFD-28D3-47DE-84A5-0B7BB41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55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Distribución de partida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82907-4D2F-46B3-80ED-1EF3D156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Es una regla de composición para productos digitales, no una fórmula rígida.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36CAE-8F61-4E69-A2B7-DD914F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089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A7038-604F-4801-B0BD-C87B74D3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46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A8589-353D-4282-8394-0EA99062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2133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558D5-1C0A-455D-AB73-3D6E8E7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52800"/>
            <a:ext cx="7467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010AE-5A09-4C38-8001-A2B56A74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760" y="3352800"/>
            <a:ext cx="3200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127BA-018B-4411-A96B-B9D596B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70 %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81DE6-A42B-491F-B718-62306CF0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Canvas /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FE22F-34D2-4340-84D4-904AF56C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20 %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18E9C-CA95-4F3F-8997-DF6F66D9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Tinta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F6509-787D-4F38-8981-E56EE56B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5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7 %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67DE2-0386-4B54-A3C2-810EB9B6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862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Apoyo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156BF-D562-4DA6-8519-78BBFC32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17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5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3 %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85E65-D1B7-46D6-BEDB-CC322CA6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862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Acento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775CA-33A3-4B89-A46D-1989D07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Teal señala decisiones. Río y montaña apoyan. Ink sostiene lectura y confianza.</a:t>
            </a:r>
          </a:p>
        </p:txBody>
      </p:sp>
    </p:spTree>
    <p:extLst>
      <p:ext uri="{BB962C8B-B14F-4D97-AF65-F5344CB8AC3E}">
        <p14:creationId xmlns:p14="http://schemas.microsoft.com/office/powerpoint/2010/main" val="20971881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8E465-B3E3-4963-8199-EDFF0C65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TIPOGRAFÍA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50BF-18CE-4BC2-951B-E88BA38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Fjalla One atrae; Inter explica y permite decidir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54DC0-CB5D-4055-9BCC-790C442D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578DB-77CC-4A1C-8151-80550544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F8CF9-929E-42E6-9C17-197DB767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23/36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09C5C-50A3-4E3F-9B52-FFAC08EC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42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Fjalla 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91241-D5B8-4852-899E-E078BB16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Titulares breves, cifras editoriales y campañas. Peso 400. Máximo dos líneas. No usar en párrafos ni formularios.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4414D-E830-4C8B-A87C-3F0AD630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255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CUSCO · RUTA · CULTURA · PAISAJE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A8B9E-D879-4B7A-BFD3-7A36E706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BAF9C-CEAA-43A7-ABA7-EE41C56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795AE-0DB1-4CBD-870B-A78E6012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Navegación, descripciones, precios, formularios y condiciones. Pesos 400, 500, 600 y 700. No usar 300 en información crítica.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FA15-8DDA-414C-BD0A-28911D2E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Una lectura clara reduce dudas antes de reservar.</a:t>
            </a:r>
          </a:p>
        </p:txBody>
      </p:sp>
    </p:spTree>
    <p:extLst>
      <p:ext uri="{BB962C8B-B14F-4D97-AF65-F5344CB8AC3E}">
        <p14:creationId xmlns:p14="http://schemas.microsoft.com/office/powerpoint/2010/main" val="4551723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68EEEA-B06F-40C7-AB09-FABB273E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TIPOGRAFÍA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39065-6127-483C-BC8E-CFED42A9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La escala responde a escritorio y móvil sin sacrificar lectura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E8731-458B-4A4E-B3C8-F7063532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54390-C8F4-4BF7-8BC8-101A1715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A1814-A5FA-4227-8062-7CA7D2F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24/36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56689-6716-419C-9D80-CD9745A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ESCRITORIO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FA90A-B111-41D9-8E27-4F5C27CA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Display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F7CD2-A294-4692-8D2B-2FE3B11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859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64 / 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8040B-4E50-440D-AEBC-9D9F39C6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4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Cusco auténtico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6261-C348-42B7-8783-D5C5D20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H1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95B5C-41CD-46A3-8517-F7714F09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62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48 / 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22C6B-1DF8-4DB9-9154-029E15A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7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Cusco auténtico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747E5-4F50-4291-A22D-FB6554E1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H2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B3C60-5A48-404B-AFDC-35D2C03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385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36 / 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111CE-F6DA-40DA-9985-BFD690E4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Cusco auténtico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2EFEB-7169-448C-B9F2-4CB96A67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Body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4DCE4-622C-410A-85BA-BFAD3E86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14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16 / 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176DC-F79B-4F61-AB23-8D1EFFE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Cusco auténtico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34262-FA5E-4189-B861-F556A392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47BAB"/>
                </a:solidFill>
                <a:latin typeface="Inter"/>
                <a:ea typeface="Inter"/>
                <a:cs typeface="Inter"/>
              </a:rPr>
              <a:t>MÓVIL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2820D-2D16-40D2-AA90-087BE47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Display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2238D-08D0-4488-A1F2-9A0502EC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859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44 / 48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2149E-32EF-48B7-B85B-2FA41D12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8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Tu próxima ruta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7E29C-725D-47FF-B545-F14FECA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H1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30EE4-9B85-47CB-B228-E453BCD0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62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36 / 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D37D5-139E-42AF-BBC4-79734622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4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Tu próxima ruta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8D336-32D1-4151-B8A9-F6B1F696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H2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C2440-6E16-481C-980A-D4DED7C1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28 / 34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46FDF-D34C-401E-B9B8-70DD6EA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025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Tu próxima ruta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E5A29-4E11-4086-9012-C8A3B10F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Body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0E6ED-37C6-4192-B8DB-689F3EAC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16 / 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732ED7-E782-4AB7-BC51-7C5E6852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Tu próxima ruta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F1AD60-175B-4088-853A-62B7BBA8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Cuerpo mínimo: 16 px. Longitud recomendada: 45–75 caracteres por línea.</a:t>
            </a:r>
          </a:p>
        </p:txBody>
      </p:sp>
    </p:spTree>
    <p:extLst>
      <p:ext uri="{BB962C8B-B14F-4D97-AF65-F5344CB8AC3E}">
        <p14:creationId xmlns:p14="http://schemas.microsoft.com/office/powerpoint/2010/main" val="13372383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C57F0C-6955-4A80-A8AA-ABEC5775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COMPOSICIÓN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C8F7A-2676-489A-BE01-FDE267B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Una retícula de 8 px hace que la marca escale con orden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F3657-CCBF-499C-B47E-42788A22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D8191-1DB1-45D1-8282-94090FA7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E25B4-5048-47E4-BAF3-B059B9E4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25/36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3C023-2C22-4F10-9ACD-BC518E84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5054-008E-49AA-9436-D70D070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5241E-5182-4DAD-B654-80D3F4B3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B9475-6818-414F-933E-0E378E7B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5EF0-1DDA-4251-B075-C6D253B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BF6D5-A37B-48D9-8FC6-D1B4B7E0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defRPr>
            </a:pPr>
            <a:r>
              <a:rPr sz="1800" b="0">
                <a:solidFill>
                  <a:srgbClr val="5A697B"/>
                </a:solidFill>
                <a:latin typeface="Fjalla One"/>
                <a:ea typeface="Fjalla One"/>
                <a:cs typeface="Fjalla One"/>
              </a:rPr>
              <a:t>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77DB5-3E79-4D69-9292-306B2FC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A43FA-0F9C-4133-A62A-8BB2D669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304800" cy="4762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5359A-F620-4DA1-8C7C-D2A8DBB5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95500"/>
            <a:ext cx="457200" cy="4762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95B77-579A-4343-B624-7EBFB859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609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84E3D-65DB-466A-A3B9-5AC261D5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914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12013-2399-4317-AEB5-76A4073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219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58BC8-8909-4AC7-9E9F-F43F3893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REGLAS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C2A92-E266-4803-A15B-DED9A42F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9EE40-CAAA-44E8-92B3-7F8800E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Gutters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C7852-31E1-4275-BB76-7B79A1AC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20–24 px en móvil; 48–64 px en escritorio.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C0506-43DA-4098-9C10-E72E0B4C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8F0A4-D5A1-4517-A7F0-583ED37C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Jerarquía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3B01F-C816-4CA6-8823-43DECF67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Una imagen, un titular o un dato dominante por pieza.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23459-49FA-46BB-8060-F1A13D8C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5A7C3-BE94-4F69-803C-B43C09EB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Respiración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579AA4-DDF0-4AB8-8529-C6BC3FC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llenar cada espacio: el vacío también guía la lectura.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F1C437-DF3F-4B79-A5ED-02E9E0B5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476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BECD99-CA05-4E25-AB78-193685B6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24250"/>
            <a:ext cx="3638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55428B-5805-42A0-A8B0-F45AA43D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2381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467C9-C58F-48F4-8F5C-455DECB8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624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A230F-66FB-4C46-B177-E3D93CC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2781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8D8DB4-CEE8-482A-A393-DA300166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05400"/>
            <a:ext cx="12382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58305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1744C-16F3-44B2-A996-9FA8DA94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RECURSOS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B0FFC-CC91-4185-A287-24DD15CF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lenguaje gráfico sugiere ruta sin copiar el isotipo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49207-EAAE-4EEA-9041-4DD1F854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E5E6D-AE61-452F-BBC0-D7AF333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E31BC-6EC9-45AA-A4C0-7B3B5107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26/36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FE14B-1466-4921-9EE4-78C0CB5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RUTA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2B24F-F042-4EF3-8883-B7E5C4A7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CB4C9-6E80-4275-9AE8-AD800AE3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33750"/>
            <a:ext cx="1047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F3AE6-961D-462B-9F1F-796A6BAA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19400"/>
            <a:ext cx="114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014A6-0749-49CC-B622-46FF2A42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Diagonales de 35–45° y remates redondeados.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7823C-8465-49C7-97C8-3EE97CB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47BAB"/>
                </a:solidFill>
                <a:latin typeface="Inter"/>
                <a:ea typeface="Inter"/>
                <a:cs typeface="Inter"/>
              </a:rPr>
              <a:t>VENTANA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0F0DD-8E84-40BA-A30F-61B27175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C06FE-8766-4016-B072-BCA0A7A6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81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842D5-82E6-4FE9-8F7C-BD8B026E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19450"/>
            <a:ext cx="2000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91161-EDC7-4CBD-AF4F-0791629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Recortes geométricos simples; fotografía real y con licencia.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455C3-4808-4FE7-A9DD-D7BA103F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PATRÓN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A16EB-B19A-42CC-BBF3-423A8BFE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61565-C773-49C4-BC80-5B5577B8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819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A9A12-B222-4E4A-BE6C-320D078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819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15B9F-DC7B-4EDC-B91C-9D5F8B9C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819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C5C05-06E4-4581-9718-9DB683E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819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5CA18-492B-402D-9685-02A4AED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57450"/>
            <a:ext cx="819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6B04E-FF10-4C80-963D-6710158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Baja densidad. Nunca detrás del logo o de información crítica.</a:t>
            </a:r>
          </a:p>
        </p:txBody>
      </p:sp>
    </p:spTree>
    <p:extLst>
      <p:ext uri="{BB962C8B-B14F-4D97-AF65-F5344CB8AC3E}">
        <p14:creationId xmlns:p14="http://schemas.microsoft.com/office/powerpoint/2010/main" val="7308230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2CFFE-94CE-483C-A3DA-574F293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ICONOGRAFÍA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B5764-F551-42B5-9076-6365971F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Una sola familia visual para todos los servicios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FF322-0A1D-40CF-8A23-78713D74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94753-162A-4F85-85C8-A93C9EA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CEF4D-50CB-478A-8D59-006E07F5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27/36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CF26A-FD9E-4521-A389-EFE64B0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790700" cy="2381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c62af893b47ca"/>
          <a:stretch xmlns:a="http://schemas.openxmlformats.org/drawingml/2006/main"/>
        </p:blipFill>
        <p:spPr>
          <a:xfrm xmlns:a="http://schemas.openxmlformats.org/drawingml/2006/main">
            <a:off x="1114425" y="20574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A1BAC-A52C-4020-A747-CA0EE107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528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Vuelos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06407-884A-418E-BCDF-C7BADC83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14500"/>
            <a:ext cx="1790700" cy="2381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7439f40dd421b"/>
          <a:stretch xmlns:a="http://schemas.openxmlformats.org/drawingml/2006/main"/>
        </p:blipFill>
        <p:spPr>
          <a:xfrm xmlns:a="http://schemas.openxmlformats.org/drawingml/2006/main">
            <a:off x="3286125" y="20574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1F525-2F29-4D84-B730-1A7A11F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528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Hoteles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1D6B0-7068-494B-8FBC-F63ADE03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14500"/>
            <a:ext cx="1790700" cy="2381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acf90ec6d435f"/>
          <a:stretch xmlns:a="http://schemas.openxmlformats.org/drawingml/2006/main"/>
        </p:blipFill>
        <p:spPr>
          <a:xfrm xmlns:a="http://schemas.openxmlformats.org/drawingml/2006/main">
            <a:off x="5457825" y="20574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BAA0C-70C1-4280-AE20-546D610C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3528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Tours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F7CC6-979C-463C-9742-E86273B4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14500"/>
            <a:ext cx="1790700" cy="2381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9e0010b304fa6"/>
          <a:stretch xmlns:a="http://schemas.openxmlformats.org/drawingml/2006/main"/>
        </p:blipFill>
        <p:spPr>
          <a:xfrm xmlns:a="http://schemas.openxmlformats.org/drawingml/2006/main">
            <a:off x="7629525" y="20574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3DC30-636C-4D76-AA22-CD77639C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528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Cruceros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BFCC1-F4AD-492E-94CC-D7D7886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790700" cy="2381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7964cf7ab4473"/>
          <a:stretch xmlns:a="http://schemas.openxmlformats.org/drawingml/2006/main"/>
        </p:blipFill>
        <p:spPr>
          <a:xfrm xmlns:a="http://schemas.openxmlformats.org/drawingml/2006/main">
            <a:off x="9801225" y="20574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CC682-FF10-409B-8FC6-CD7577B9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528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Asistencia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26C81-745E-4A92-AE57-D82FBBE2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Trazo uniforme · terminaciones redondeadas · una o dos tintas · etiqueta obligatoria cuando afecte una decisión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DA00A-5C82-468F-B977-EF393F2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Icono visual &gt;= 24 px · área interactiva recomendada 44 × 44 px</a:t>
            </a:r>
          </a:p>
        </p:txBody>
      </p:sp>
    </p:spTree>
    <p:extLst>
      <p:ext uri="{BB962C8B-B14F-4D97-AF65-F5344CB8AC3E}">
        <p14:creationId xmlns:p14="http://schemas.microsoft.com/office/powerpoint/2010/main" val="18436579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17DF2-0358-4B56-8654-67ADC65D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FOTOGRAFÍA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05658-3A48-41CF-BA59-CA54B457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La imagen debe demostrar el viaje, no fabricar una promesa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C9C04-8C1C-485F-BBBE-0002439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5EC2C-D301-43A0-AA10-2EA85583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CEB3B-11DD-40D3-AEEA-B21D4BD6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28/36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210CE-F2E4-47D5-9198-0BEEE640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715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E6D68-9F9E-4099-BADC-FAB803B4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23843-7080-466E-B168-4F61027B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667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F591C-8AE2-4F2E-B9E8-D4DE52C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FOTO REAL Y AUTORIZADA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ADA7E-D9E2-4585-B593-D813DEE9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BUSCAR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C40C9-C8A0-4EB8-B3C2-58EE79EE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1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BBC52-1200-4BE6-ADC8-6DD03954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Escala humana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F33AD-C236-4D9C-A66C-A0B88BB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2885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Personas reales en acción y paisaje contextualizado.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BAED3-C84D-4F89-9A49-34AD60A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DA882-66D2-4DFC-AD3D-31465C4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Información útil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266DF-4AAD-470C-A3A9-D1DE6855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242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Terreno, clima, equipo, ritmo y condiciones visibles.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2BB2C-0BF9-4640-A914-73A62146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FE5B8-375D-406B-BFA5-942AE9E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528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Dignidad y permiso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15990-9935-4986-947B-C6D8273A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955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Comunidades, guías y viajeros representados con autorización.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C65A9-2BA0-4A28-A096-CC7B0CA2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577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42318"/>
                </a:solidFill>
                <a:latin typeface="Inter"/>
                <a:ea typeface="Inter"/>
                <a:cs typeface="Inter"/>
              </a:rPr>
              <a:t>Evitar HDR agresivo, cielos falsos, fotos de terceros sin licencia e imágenes generadas como prueba de una experiencia real.</a:t>
            </a:r>
          </a:p>
        </p:txBody>
      </p:sp>
    </p:spTree>
    <p:extLst>
      <p:ext uri="{BB962C8B-B14F-4D97-AF65-F5344CB8AC3E}">
        <p14:creationId xmlns:p14="http://schemas.microsoft.com/office/powerpoint/2010/main" val="11425008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E63AD5-A6C4-4F0A-A847-8234C03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REDES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E6B4E-8AAB-4C3F-A9BF-24AEF2CD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Diseñar desde formatos maestros, no desde capturas improvisadas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F3CDF-0754-4084-98C3-1B506454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6C584-CC9B-4D30-AC1C-C439487B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3A47A-C081-4F60-95AB-2065CBA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29/36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B1AD-C34D-4FC1-A4DF-9766ECC7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EE5A0-B37C-45B5-8AFE-BE276BC7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06C37-1C9B-4290-BEA7-6ED44F22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352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7B6D2-16FB-4742-B0AA-78823431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1:1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EA27A-0733-43CD-9FCA-BBED98D8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1080 × 1080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2DE94-E26A-417C-A5D9-AF480290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95450"/>
            <a:ext cx="1809750" cy="22669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647BA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85411-D2D0-47A2-84AD-76FD96EF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95AD2-2C90-4D0C-ACB4-15A297EE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1352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B6164-E62A-4BFA-BE33-AF77D0CF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14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4:5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88D43-325B-4A02-BA74-833E1920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00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1080 × 1350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FC179-3D87-47DD-829F-B27615F6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1581150" cy="28003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F0398-0484-48DB-A552-68A27227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0ACE7-111F-45AD-8744-42DD043B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67150"/>
            <a:ext cx="1123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D3410-722F-4836-9A3A-ACE0C144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482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9:16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9C27B-50E2-44A8-B995-4CFD6080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339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1080 × 1920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80CAF-6C9B-4753-A048-8D8A1EAE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333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647BA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1B396-3C1F-4968-8C5E-7DF1942D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24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15997-1545-4830-A453-CD51592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876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E4B9A-158A-4DE8-8533-E6F5665A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1.91:1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9FDB3-08C5-408D-A35D-13134E92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1200 × 630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AA801-4C5D-4C48-A7CC-09D91615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64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Avatar: isotipo o app icon sobre slate. Favicon: transparente y exclusivo del navegador. Mantener título y CTA lejos de bordes y controles de plataforma. Verificar requisitos antes de cada campaña: pueden cambiar.</a:t>
            </a:r>
          </a:p>
        </p:txBody>
      </p:sp>
    </p:spTree>
    <p:extLst>
      <p:ext uri="{BB962C8B-B14F-4D97-AF65-F5344CB8AC3E}">
        <p14:creationId xmlns:p14="http://schemas.microsoft.com/office/powerpoint/2010/main" val="14709532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71544-54D8-497C-BFAD-22E88869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INTERFAZ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BE8A-6447-4F1B-9BFD-3981478D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La interfaz debe permitir actuar sin ambigüedad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112B4-2433-48FB-94E8-C44E2CA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C4379-A2E1-4D05-BD12-189BE081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FF787-B8D0-4C29-AAB5-0256670B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30/36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7DFF-80A5-4F76-89B3-81BAF7C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489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EEDD-65B2-439A-A198-653AED5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ACCIONES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890B2-5F64-4CA5-99C3-72075BC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A0190-23C6-476D-8F4A-517ABC59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Consultar disponibilidad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6E098-5FAB-4B89-933A-A380861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89C5C-0F6F-4225-AADF-4BA32E0C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Ver itinerario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42642-77CD-4E53-8F46-201FA68F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42318"/>
                </a:solidFill>
                <a:latin typeface="Inter"/>
                <a:ea typeface="Inter"/>
                <a:cs typeface="Inter"/>
              </a:rPr>
              <a:t>No usar “Reservar ahora” si la disponibilidad se comprueba manualmente.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1341C-2B75-43A5-8BF7-9C1F141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47BAB"/>
                </a:solidFill>
                <a:latin typeface="Inter"/>
                <a:ea typeface="Inter"/>
                <a:cs typeface="Inter"/>
              </a:rPr>
              <a:t>FORMULARIO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9A112-1040-462E-85B7-30717152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Fecha de viaje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0E188-2313-4040-9553-F5DB8E5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69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709C5-9FDD-4273-B972-4EC771FD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dd / mm / aaaa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F3A29-76F4-40C5-A583-0A3A6F56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Ayuda y errores deben aparecer como texto, no solo como color.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697D2-80BD-4E8D-A15B-5BCF7A3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9BBFE6"/>
                </a:solidFill>
                <a:latin typeface="Inter"/>
                <a:ea typeface="Inter"/>
                <a:cs typeface="Inter"/>
              </a:rPr>
              <a:t>ACCESIBILIDAD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0C343-A6A0-48D7-B951-9D976E19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27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44 × 44 px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61BB0-383F-44B1-98B7-C31EECEA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objetivo interno para controles táctiles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3466D-1504-4A62-9632-83810726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09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Foco visible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Texto &gt;= 16 px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No depender solo del color</a:t>
            </a:r>
          </a:p>
        </p:txBody>
      </p:sp>
    </p:spTree>
    <p:extLst>
      <p:ext uri="{BB962C8B-B14F-4D97-AF65-F5344CB8AC3E}">
        <p14:creationId xmlns:p14="http://schemas.microsoft.com/office/powerpoint/2010/main" val="15964391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196F4-B797-44BD-B5C3-6FB35930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743EB-3488-42A5-93C6-E857C88F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movimiento orienta; no debe competir con el viaje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564A4-C9F6-45CB-883E-89D57FA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A96CE-29F3-4ADC-8DB5-015F3B67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52D42-BBB6-4DEE-8F59-7823C6C0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31/36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7A8E1-91C1-4985-B31A-8F52B5DC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160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01B16-5767-4184-B43C-B2197977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859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Microinteracción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D8EAC-DC63-4CE4-8617-3E7D76EF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1905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BAA51-0169-481E-A1DE-5AD17A85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9BBFE6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9BBFE6"/>
                </a:solidFill>
                <a:latin typeface="Fjalla One"/>
                <a:ea typeface="Fjalla One"/>
                <a:cs typeface="Fjalla One"/>
              </a:rPr>
              <a:t>240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C1089-4955-4FE7-9512-649F337F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03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Componente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A2461-BD29-4B75-A6DA-087D3E2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857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3CF0C-2158-4A28-9A66-FA8842E7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400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7CFFA-763F-47C0-A425-4286EB5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147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Transición de sección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0B239-1367-4B27-8911-9FD25D7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4762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681BF-6760-44FC-A9F1-7DDCAA01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9CE8E-848E-4056-AE69-BCFB3443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REGLAS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8FA12-D38B-432A-88C2-A3AD267A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4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Usar opacidad y desplazamientos de hasta 12 px · No deformar el logo · Evitar parallax continuo · Respetar prefers-reduced-motion</a:t>
            </a:r>
          </a:p>
        </p:txBody>
      </p:sp>
    </p:spTree>
    <p:extLst>
      <p:ext uri="{BB962C8B-B14F-4D97-AF65-F5344CB8AC3E}">
        <p14:creationId xmlns:p14="http://schemas.microsoft.com/office/powerpoint/2010/main" val="200729650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187147-3FA8-4922-9132-457AFE0A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CANALES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31580-4B67-4572-80CD-AFBDCF34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Cada punto de contacto necesita una versión y una acción coherentes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6BDE4-E398-42B5-8275-D812E599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AB20C-D2D9-4085-A2EF-A02B5904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91A33-AA0A-416F-B00B-E67FF20E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32/36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01295-23CD-44D5-A5FB-0B1F9F95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CANAL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66370-72DB-4ED0-BF22-968428E8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859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LOGO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C3805-BDBF-4788-B1DE-77BC5F0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85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FORMATO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375DF-5C71-4D00-8A89-363D35D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ACCIÓN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D1664-42BC-4460-B4D8-BB08BAE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CC6C0-609A-4F59-9F2D-6E41250D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43396-BA02-42C4-8629-398D9469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02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Horizontal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5DAAB-CD2C-43CD-9E9C-1E9E958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SVG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79EF5-6DB6-4684-97C7-DB496DB8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Consultar / reservar según capacidad real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38EDE-930D-45DC-A565-7BEF4E35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A8FF9-A900-4F37-AA2A-7C0E3A62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Redes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D4E05-2158-4204-A254-5AEE3B05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289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Favicon + isotipo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63D76-896A-4A38-9E1F-EC50312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F09EF-EEF4-4B40-9DA5-D651082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Ver tour / escribir / guardar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0C200-6764-4D4D-9D88-76E96E60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3A4AF-DBC5-41B0-95B1-D8049B9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WhatsApp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8B2E4-C0A4-4600-8147-A2640494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575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App icon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E73A0-4EE7-4075-835C-2FDE0648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FFDA3-78CB-4E7C-89B6-FF3DCE5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Iniciar conversación con contexto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9F9887-C9DE-4016-A7C0-3DB15B3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29D88-B218-4455-A682-E838AF5E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24F0B-A45A-4E2B-84AE-262CBE6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Horizontal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F4C9B-818A-4515-96AB-9367DA6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862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0077A-B9B3-4352-A7DE-B1BC4D59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Responder / ver propuesta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24A2F7-047E-46B1-B9CB-251B0A33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4C6E4-F2B8-4758-AF1D-901795E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Anuncios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405A8-29DE-4E38-9A4F-AE79281E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Horizontal o isotipo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466C1C-48FB-4181-A0F2-C4CCB390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PNG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E4F59-10C3-4A11-BC5C-4825997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Landing específica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60D7D1-C08D-45C2-8B8A-5EEC571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A9E880-CBDA-4298-8958-773E1FFD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Reserva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307E3-6EE7-4F1F-AE18-8C1CBEE2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435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Horizontal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71F17F-723E-4AAD-BEEC-F951DE6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SVG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0C8746-FBD2-4777-9607-68B6C852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Confirmar estado y siguiente paso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5D498D-049E-4CC7-B321-73AF7CF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42040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86FCA2-2BD5-4933-BE62-7E458E68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ARCHIVOS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4D9C-C9A6-4401-AFDC-BEFFF7C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El formato correcto evita pérdida de calidad y versiones paralelas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278E7-4D82-4E37-AB1A-A2710BEF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5AC04-DF11-45C8-9D66-3A0256F5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2ECA8-DB45-4983-BD8C-F744E48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33/36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7AC1A-DC4E-4BAB-8E63-0E3F8A08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F98B9-F563-46F8-9E6A-E280251D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Web, interfaces y escala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78BCA-DBBA-411E-9D4F-BB4C8463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62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Maestro digital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14A98-45A7-4654-985F-AC6D1040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33477-0041-4A4A-9447-01BC3941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7CE18-DAF1-4714-92FC-EED161E0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05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Redes, firmas y plataformas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8411F-C369-4541-B29E-80449A8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Transparencia / @2x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4AB85-89A0-450D-8B8F-65BA2CF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A5412-D1B3-44FA-9D4F-7977313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ICO/SVG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34C15-C6C1-4917-BE2B-9DCA62CD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48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Favicon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90D4F-7BE1-4742-9320-883A5929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Usar archivo óptico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8A1C1-7038-45A8-96C0-9DEB6B4D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EFB6C-74F7-4269-A153-8712882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WebP/AVIF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FCBA6-6E42-4F05-9675-E0ACF27F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0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Fotografía web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C2DFF-97D0-4946-AF81-A0331F2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No usar para el logo maestro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8C4FC-EB00-46A5-81CB-EA40AEE8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7FCB8-2D2E-47A1-8870-86D2677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165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PPTX/PDF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0B119-4D8B-4476-9993-748B8D0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33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Manual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B289B-A304-4859-B52D-7FE855A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Editable + distribución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59C5A-75D3-4C72-97B7-E27A9DD0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266E1-10B4-4605-A84E-9F932BCD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76500" cy="3543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C3631C-2E41-46EB-9181-FA721BF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8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NOMENCLATURA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E7AE8-2582-4CBF-9396-05801899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1809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Kusi_Qumir_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[Activo]_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[Variante]_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210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[Modo].[ext]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B13AC-DA1E-4232-A541-379E0E63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Ejemplo:</a:t>
            </a:r>
          </a:p>
          <a:p xmlns:a="http://schemas.openxmlformats.org/drawingml/2006/main">
            <a:pPr algn="l">
              <a:defRPr sz="105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Kusi_Qumir_Logo_</a:t>
            </a:r>
          </a:p>
          <a:p xmlns:a="http://schemas.openxmlformats.org/drawingml/2006/main">
            <a:pPr algn="l">
              <a:defRPr sz="105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Horizontal_Color.svg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81D08-0828-4BB7-98B8-91064AA6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Toda salida digital: sRGB.</a:t>
            </a:r>
          </a:p>
        </p:txBody>
      </p:sp>
    </p:spTree>
    <p:extLst>
      <p:ext uri="{BB962C8B-B14F-4D97-AF65-F5344CB8AC3E}">
        <p14:creationId xmlns:p14="http://schemas.microsoft.com/office/powerpoint/2010/main" val="19212723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891AA-7F0B-4FA2-AD8A-8B6CAD45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GOBERNANZA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58EF4-7A74-4926-81A5-5D5BFFF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Publicar requiere control de marca, verdad y accesibilidad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9E688-DA8F-469D-8DA0-1B1B112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84C7D-9C74-486D-B3B6-E9BCD31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54869-C882-4E5C-8484-274CE1C4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34/36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52A04-76D2-406C-81C1-99642F26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E6711-1DDA-4AB4-9C25-B752964C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Usa activos KQ-DIGITAL-2.1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972B2-784C-439D-A5D6-FADEF2F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8D65-5460-424B-9DA8-91A796B4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764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Nombre escrito como Kusi Q’umir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58556-8284-405A-872B-93AE592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64AD2-7627-4D8D-A7B9-31059265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Logo correcto para fondo y tamaño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3387D-E34D-43AF-92CA-EA1C207F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F7306-4DFF-4CC0-BA96-A1A5F47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052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Fjalla One + Inter instaladas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59D03-5EDC-4C64-8FD4-FAF15B28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F9D85-CEB5-4EA9-BCF7-6BE175B7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HEX exactos; sin variantes heredadas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909E8-6665-4AF6-B729-3A10CA9F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E4D74-4E88-4DC7-BDA9-0CE55008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339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Texto y controles con contraste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2658A-EBA1-4815-B36C-593331D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43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6F4B6-0894-47B5-9AB8-E68A64A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CTA describe el proceso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0FEB1-8C48-4603-A2ED-96FF38ED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57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F0F9A-1773-495E-81F6-B96270DE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Precio, cupo e inclusiones verificados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61BB3-13EE-4EAD-87FC-6F4560E9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7F025-DA99-4078-A4CA-25CE8B78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Fotos con licencia y permiso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EEB93-D200-4338-AA8F-992037B1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86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8CBE1-F8EB-4562-A538-EAFE8C8A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Alt text y subtítulos cuando aplica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101384-D89C-4CEB-84D0-02E39D9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F4ADA-9362-4830-90CD-ECC971C4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Errores no dependen solo del color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01910-0D42-40E2-A1DE-E81BCBD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1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276DF-A729-41E3-B223-09F6C5F5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339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Responsable y fecha de revisión registrados</a:t>
            </a:r>
          </a:p>
        </p:txBody>
      </p:sp>
    </p:spTree>
    <p:extLst>
      <p:ext uri="{BB962C8B-B14F-4D97-AF65-F5344CB8AC3E}">
        <p14:creationId xmlns:p14="http://schemas.microsoft.com/office/powerpoint/2010/main" val="12190823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AA397-585F-4915-9ACF-BCFD75FD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REFERENCIAS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AD415-049D-4108-94FE-F735BB3B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defRPr>
            </a:pPr>
            <a:r>
              <a:rPr sz="3000" b="0">
                <a:solidFill>
                  <a:srgbClr val="0F172A"/>
                </a:solidFill>
                <a:latin typeface="Fjalla One"/>
                <a:ea typeface="Fjalla One"/>
                <a:cs typeface="Fjalla One"/>
              </a:rPr>
              <a:t>Normas y licencias que sostienen el sistema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02F80-74D7-48B6-ABA9-EB006ACA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CE7EF-E9C9-4D4A-BFC9-69CBBF97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KQ-DIGITAL-2.1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D1696-324E-4A9A-9056-D38FB4A8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5A697B"/>
                </a:solidFill>
                <a:latin typeface="Inter"/>
                <a:ea typeface="Inter"/>
                <a:cs typeface="Inter"/>
              </a:rPr>
              <a:t>35/36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92173-9A2C-4254-BEA2-B038906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Contraste de 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336FC-88CF-4A68-970A-B30AB34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47BAB"/>
                </a:solidFill>
                <a:latin typeface="Inter"/>
                <a:ea typeface="Inter"/>
                <a:cs typeface="Inter"/>
              </a:rPr>
              <a:t>w3.org/WAI/WCAG22/Understanding/contrast-minimum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28BEE-BF75-4DF4-8746-BEE38A2C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A1753-58AC-4FBE-86C4-640E7A7E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Contraste no textual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4B569-1AD1-4627-A517-061990FC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47BAB"/>
                </a:solidFill>
                <a:latin typeface="Inter"/>
                <a:ea typeface="Inter"/>
                <a:cs typeface="Inter"/>
              </a:rPr>
              <a:t>w3.org/WAI/WCAG22/Understanding/non-text-contrast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478E6-BB88-469C-AD0B-BEFDF606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01284-650A-4E0E-96A3-0FE33CFE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Tamaño mínimo de objetivos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23087-DFD9-4CCC-95DA-9F8B4E11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47BAB"/>
                </a:solidFill>
                <a:latin typeface="Inter"/>
                <a:ea typeface="Inter"/>
                <a:cs typeface="Inter"/>
              </a:rPr>
              <a:t>w3.org/WAI/WCAG22/Understanding/target-size-minimum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89EC9-3929-481F-B838-C7DF0572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45054-9C85-4C5D-81B8-B8573216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Tamaño mejorado 44 × 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CBF2C-4349-4E5A-A766-6C55F46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47BAB"/>
                </a:solidFill>
                <a:latin typeface="Inter"/>
                <a:ea typeface="Inter"/>
                <a:cs typeface="Inter"/>
              </a:rPr>
              <a:t>w3.org/WAI/WCAG22/Understanding/target-size-enhanced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1353D-9B82-467F-A54A-5D75DF5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A30D8-F43B-439C-9365-D1FB6162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Animación e interacción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C322D-9F03-4EC7-80FC-B461F06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47BAB"/>
                </a:solidFill>
                <a:latin typeface="Inter"/>
                <a:ea typeface="Inter"/>
                <a:cs typeface="Inter"/>
              </a:rPr>
              <a:t>w3.org/WAI/WCAG22/Understanding/animation-from-interactions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DFDDB-8EE8-400F-BD0F-C75EC26A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75AB7-52D6-465D-95FC-E2426C94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Movimiento reducido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6A4A6-9B81-48C8-9BBF-2720D00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BAB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47BAB"/>
                </a:solidFill>
                <a:latin typeface="Inter"/>
                <a:ea typeface="Inter"/>
                <a:cs typeface="Inter"/>
              </a:rPr>
              <a:t>w3.org/WAI/WCAG22/Techniques/css/C39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96CDE-EF60-4471-B54A-A60C1973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7933A5-6533-474C-9B19-CE9BE023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B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A697B"/>
                </a:solidFill>
                <a:latin typeface="Inter"/>
                <a:ea typeface="Inter"/>
                <a:cs typeface="Inter"/>
              </a:rPr>
              <a:t>Fjalla One e Inter se distribuyen bajo SIL Open Font License. Las licencias se incluyen en el paquete.</a:t>
            </a:r>
          </a:p>
        </p:txBody>
      </p:sp>
    </p:spTree>
    <p:extLst>
      <p:ext uri="{BB962C8B-B14F-4D97-AF65-F5344CB8AC3E}">
        <p14:creationId xmlns:p14="http://schemas.microsoft.com/office/powerpoint/2010/main" val="150746731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21B0B-446B-4261-948B-72648B6C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B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B55A9-A43C-4D98-99D7-E6434CFD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F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5a79fd0f44c6c"/>
          <a:stretch xmlns:a="http://schemas.openxmlformats.org/drawingml/2006/main"/>
        </p:blipFill>
        <p:spPr>
          <a:xfrm xmlns:a="http://schemas.openxmlformats.org/drawingml/2006/main">
            <a:off x="7239000" y="846614"/>
            <a:ext cx="4095750" cy="148812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FAF46-F961-47EB-896A-22348C2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435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Un sistema.</a:t>
            </a:r>
          </a:p>
          <a:p xmlns:a="http://schemas.openxmlformats.org/drawingml/2006/main">
            <a:pPr algn="l">
              <a:defRPr sz="4350" b="0">
                <a:solidFill>
                  <a:srgbClr val="FFFFFF"/>
                </a:solidFill>
                <a:latin typeface="Fjalla One"/>
                <a:ea typeface="Fjalla One"/>
                <a:cs typeface="Fjalla One"/>
              </a:defRPr>
            </a:pPr>
            <a:r>
              <a:rPr sz="4350" b="0">
                <a:solidFill>
                  <a:srgbClr val="FFFFFF"/>
                </a:solidFill>
                <a:latin typeface="Fjalla One"/>
                <a:ea typeface="Fjalla One"/>
                <a:cs typeface="Fjalla One"/>
              </a:rPr>
              <a:t>Todos los canales.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67790-6F43-4CE1-BAFA-7A418394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BBFE6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9BBFE6"/>
                </a:solidFill>
                <a:latin typeface="Inter"/>
                <a:ea typeface="Inter"/>
                <a:cs typeface="Inter"/>
              </a:rPr>
              <a:t>KQ-DIGITAL-2.1 es la única fuente vigente para la identidad digital de Kusi Q’umir.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CF609-5F83-4819-8D10-209F063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ABAA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00ABAA"/>
                </a:solidFill>
                <a:latin typeface="Fjalla One"/>
                <a:ea typeface="Fjalla One"/>
                <a:cs typeface="Fjalla On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8D79E-CDF6-43FF-A88D-B05CEE0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Archivar kits anteriores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C5B2E-ED6C-4AC4-984D-D73DC41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529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9BBFE6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9BBFE6"/>
                </a:solidFill>
                <a:latin typeface="Fjalla One"/>
                <a:ea typeface="Fjalla One"/>
                <a:cs typeface="Fjalla On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C6AA2-8B3B-477B-82AE-8C30D8E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910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Instalar fuentes y tokens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233A3-D667-4B47-AC51-C210F3AF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BAB"/>
                </a:solidFill>
                <a:latin typeface="Fjalla One"/>
                <a:ea typeface="Fjalla One"/>
                <a:cs typeface="Fjalla One"/>
              </a:defRPr>
            </a:pPr>
            <a:r>
              <a:rPr sz="2250" b="0">
                <a:solidFill>
                  <a:srgbClr val="647BAB"/>
                </a:solidFill>
                <a:latin typeface="Fjalla One"/>
                <a:ea typeface="Fjalla One"/>
                <a:cs typeface="Fjalla On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800C8-2FAA-4D17-A2A6-9F73786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Implementar perfiles y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3AEC5-2562-446B-8CE6-ED959A62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BA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00ABAA"/>
                </a:solidFill>
                <a:latin typeface="Inter"/>
                <a:ea typeface="Inter"/>
                <a:cs typeface="Inter"/>
              </a:rPr>
              <a:t>VERSIÓN 2.1 · AGOSTO 2026</a:t>
            </a:r>
          </a:p>
        </p:txBody>
      </p:sp>
    </p:spTree>
    <p:extLst>
      <p:ext uri="{BB962C8B-B14F-4D97-AF65-F5344CB8AC3E}">
        <p14:creationId xmlns:p14="http://schemas.microsoft.com/office/powerpoint/2010/main" val="234350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Kusi Q’umir</dc:creator>
  <cp:lastModifiedBy>Kusi Q’umir</cp:lastModifiedBy>
  <dc:title>Manual de marca digital Kusi Q’umir v2.1</dc:title>
  <dc:subject>Sistema de identidad para web, redes sociales y operación digital</dc:subject>
  <dc:description>Normas de marca, accesibilidad, interfaz, contenido y activos digitales de Kusi Q’umir.</dc:description>
  <cp:keywords>Kusi Q’umir, marca digital, identidad visual, manual de marca, favicon transparente</cp:keywords>
  <dcterms:created xsi:type="dcterms:W3CDTF">2026-08-08T22:15:00Z</dcterms:created>
  <dcterms:modified xsi:type="dcterms:W3CDTF">2026-08-08T22:15:00Z</dcterms:modified>
</cp:coreProperties>
</file>